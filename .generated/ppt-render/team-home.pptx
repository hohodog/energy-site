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341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/>
          <p:cNvSpPr/>
          <p:nvPr/>
        </p:nvSpPr>
        <p:spPr>
          <a:xfrm>
            <a:off x="3248941" y="8825402"/>
            <a:ext cx="11452579" cy="658494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6305633" y="2528927"/>
            <a:ext cx="4521834" cy="2160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44015" algn="l" rtl="0" eaLnBrk="0">
              <a:lnSpc>
                <a:spcPct val="83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Core</a:t>
            </a:r>
            <a:r>
              <a:rPr sz="1800" kern="0" spc="2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Members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6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20165" algn="l" rtl="0" eaLnBrk="0">
              <a:lnSpc>
                <a:spcPct val="82000"/>
              </a:lnSpc>
              <a:spcBef>
                <a:spcPts val="605"/>
              </a:spcBef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Mr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lang="en-US"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Guo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20165" algn="l" rtl="0" eaLnBrk="0">
              <a:lnSpc>
                <a:spcPct val="87000"/>
              </a:lnSpc>
              <a:spcBef>
                <a:spcPts val="255"/>
              </a:spcBef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Internet Ope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rations &amp;Project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</a:t>
            </a:r>
            <a:r>
              <a:rPr sz="15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Management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Expert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20165" algn="l" rtl="0" eaLnBrk="0">
              <a:lnSpc>
                <a:spcPts val="1895"/>
              </a:lnSpc>
              <a:spcBef>
                <a:spcPts val="435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Leads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platfom</a:t>
            </a:r>
            <a:r>
              <a:rPr sz="15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ilding,</a:t>
            </a:r>
            <a:r>
              <a:rPr lang="en-US"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client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20165" algn="l" rtl="0" eaLnBrk="0">
              <a:lnSpc>
                <a:spcPct val="99000"/>
              </a:lnSpc>
              <a:spcBef>
                <a:spcPts val="1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communicat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ion,</a:t>
            </a:r>
            <a:r>
              <a:rPr lang="en-US"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 end-to-end project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implementation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55065" algn="l" rtl="0" eaLnBrk="0">
              <a:lnSpc>
                <a:spcPct val="83000"/>
              </a:lnSpc>
              <a:spcBef>
                <a:spcPts val="545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Technical Advisory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Team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857215" y="3134549"/>
            <a:ext cx="4783454" cy="155527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77950" algn="l" rtl="0" eaLnBrk="0">
              <a:lnSpc>
                <a:spcPct val="82000"/>
              </a:lnSpc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lang="en-US"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Guo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77950" algn="l" rtl="0" eaLnBrk="0">
              <a:lnSpc>
                <a:spcPct val="93000"/>
              </a:lnSpc>
              <a:spcBef>
                <a:spcPts val="160"/>
              </a:spcBef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PhD</a:t>
            </a:r>
            <a:r>
              <a:rPr sz="1400" b="1" kern="0" spc="2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1400" b="1" kern="0" spc="2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Energy</a:t>
            </a:r>
            <a:r>
              <a:rPr sz="14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Storage</a:t>
            </a:r>
            <a:r>
              <a:rPr lang="en-US"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(Heidelberg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University</a:t>
            </a:r>
            <a:r>
              <a:rPr sz="1400" b="1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77950" algn="l" rtl="0" eaLnBrk="0">
              <a:lnSpc>
                <a:spcPct val="108000"/>
              </a:lnSpc>
              <a:spcBef>
                <a:spcPts val="790"/>
              </a:spcBef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National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platform expert driving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Na-io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strategy and national standard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etting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1696732" y="3147962"/>
            <a:ext cx="4754245" cy="130894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46200" algn="l" rtl="0" eaLnBrk="0">
              <a:lnSpc>
                <a:spcPct val="82000"/>
              </a:lnSpc>
            </a:pP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Dr.</a:t>
            </a:r>
            <a:r>
              <a:rPr lang="en-US" sz="20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Lennart Singer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46200" algn="l" rtl="0" eaLnBrk="0">
              <a:lnSpc>
                <a:spcPct val="84000"/>
              </a:lnSpc>
              <a:spcBef>
                <a:spcPts val="125"/>
              </a:spcBef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German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Energy</a:t>
            </a:r>
            <a:r>
              <a:rPr sz="1400" b="1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Storage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sz="1400" b="1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</a:t>
            </a:r>
            <a:r>
              <a:rPr sz="1400" b="1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Expert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46200" algn="l" rtl="0" eaLnBrk="0">
              <a:lnSpc>
                <a:spcPct val="84000"/>
              </a:lnSpc>
              <a:spcBef>
                <a:spcPts val="240"/>
              </a:spcBef>
            </a:pP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PhD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Heidelberg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46200" algn="l" rtl="0" eaLnBrk="0">
              <a:lnSpc>
                <a:spcPct val="107000"/>
              </a:lnSpc>
              <a:spcBef>
                <a:spcPts val="875"/>
              </a:spcBef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Drives local technol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ogy validation and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European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 analysis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2590755" y="1364794"/>
            <a:ext cx="12275184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080"/>
              </a:lnSpc>
            </a:pPr>
            <a:r>
              <a:rPr sz="2400" b="1" i="1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cross-border team bridging</a:t>
            </a:r>
            <a:r>
              <a:rPr sz="2400" b="1" i="1" kern="0" spc="1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400" b="1" i="1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China and Europe,combining top academic</a:t>
            </a:r>
            <a:r>
              <a:rPr sz="2400" b="1" i="1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400" b="1" i="1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backgrounds,</a:t>
            </a:r>
            <a:endParaRPr sz="2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17750" algn="l" rtl="0" eaLnBrk="0">
              <a:lnSpc>
                <a:spcPts val="3080"/>
              </a:lnSpc>
            </a:pPr>
            <a:r>
              <a:rPr sz="2400" b="1" i="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hands-on i</a:t>
            </a:r>
            <a:r>
              <a:rPr sz="2400" b="1" i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ndustry experience,and global</a:t>
            </a:r>
            <a:r>
              <a:rPr sz="2400" b="1" i="1" kern="0" spc="-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400" b="1" i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perspectives.</a:t>
            </a:r>
            <a:endParaRPr sz="2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57215" y="499909"/>
            <a:ext cx="1573720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2000"/>
              </a:lnSpc>
            </a:pPr>
            <a:r>
              <a:rPr sz="45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Our Team-Sino-Foreign</a:t>
            </a:r>
            <a:r>
              <a:rPr sz="4500" b="1" kern="0" spc="2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45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Energy Storage Technology</a:t>
            </a:r>
            <a:r>
              <a:rPr sz="4500" b="1" kern="0" spc="2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45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r>
              <a:rPr sz="45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ridge</a:t>
            </a:r>
            <a:endParaRPr sz="4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371896" y="8825402"/>
            <a:ext cx="6981825" cy="658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ctr" rtl="0" eaLnBrk="0">
              <a:lnSpc>
                <a:spcPts val="2520"/>
              </a:lnSpc>
            </a:pPr>
            <a:r>
              <a:rPr sz="1600" kern="0" spc="-2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Looking forward to advancing the commercializ</a:t>
            </a:r>
            <a:r>
              <a:rPr sz="1600" kern="0" spc="-3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ation of next-generation</a:t>
            </a:r>
            <a:endParaRPr sz="16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rtl="0" eaLnBrk="0">
              <a:lnSpc>
                <a:spcPts val="2045"/>
              </a:lnSpc>
              <a:spcBef>
                <a:spcPts val="415"/>
              </a:spcBef>
            </a:pPr>
            <a:r>
              <a:rPr sz="1600" kern="0" spc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energy storage</a:t>
            </a:r>
            <a:r>
              <a:rPr sz="1600" kern="0" spc="4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600" kern="0" spc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technologies</a:t>
            </a:r>
            <a:r>
              <a:rPr sz="1600" kern="0" spc="4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600" kern="0" spc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toget</a:t>
            </a:r>
            <a:r>
              <a:rPr sz="1600" kern="0" spc="-1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her.</a:t>
            </a:r>
            <a:endParaRPr sz="1600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7170566" y="7346371"/>
            <a:ext cx="2791968" cy="28442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rtl="0" eaLnBrk="0">
              <a:lnSpc>
                <a:spcPct val="84000"/>
              </a:lnSpc>
            </a:pP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Core Stre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ngths</a:t>
            </a: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035112" y="6683780"/>
            <a:ext cx="15415865" cy="417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045"/>
              </a:lnSpc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Source</a:t>
            </a:r>
            <a:r>
              <a:rPr sz="1500" b="1" kern="0" spc="3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Network: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Drawn from top dom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estic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institutions,</a:t>
            </a:r>
            <a:r>
              <a:rPr lang="en-US"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leading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enterprises,</a:t>
            </a:r>
            <a:r>
              <a:rPr lang="en-US"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university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labs,</a:t>
            </a:r>
            <a:r>
              <a:rPr lang="en-US"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forming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'material-cell-system-application'</a:t>
            </a:r>
            <a:r>
              <a:rPr lang="en-US"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value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chain</a:t>
            </a:r>
            <a:r>
              <a:rPr lang="en-US"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0602647" y="8980451"/>
            <a:ext cx="3957903" cy="361867"/>
            <a:chOff x="10743617" y="9005791"/>
            <a:chExt cx="3957903" cy="361867"/>
          </a:xfrm>
        </p:grpSpPr>
        <p:sp>
          <p:nvSpPr>
            <p:cNvPr id="79" name="矩形: 圆角 78"/>
            <p:cNvSpPr/>
            <p:nvPr/>
          </p:nvSpPr>
          <p:spPr>
            <a:xfrm>
              <a:off x="10743617" y="9005791"/>
              <a:ext cx="3703903" cy="36186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0000">
                  <a:schemeClr val="accent4">
                    <a:lumMod val="20000"/>
                    <a:lumOff val="80000"/>
                  </a:schemeClr>
                </a:gs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extbox 20"/>
            <p:cNvSpPr/>
            <p:nvPr/>
          </p:nvSpPr>
          <p:spPr>
            <a:xfrm>
              <a:off x="10903008" y="9005791"/>
              <a:ext cx="3798512" cy="361867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2645"/>
                </a:lnSpc>
              </a:pPr>
              <a:r>
                <a:rPr sz="1800" b="1" kern="0" spc="-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partner@sinoglobal-storage.com</a:t>
              </a:r>
              <a:endParaRPr sz="18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2" name="textbox 22"/>
          <p:cNvSpPr/>
          <p:nvPr/>
        </p:nvSpPr>
        <p:spPr>
          <a:xfrm>
            <a:off x="1111250" y="7787640"/>
            <a:ext cx="3573780" cy="803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rtl="0" eaLnBrk="0"/>
            <a:r>
              <a:rPr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China-Europe d</a:t>
            </a:r>
            <a:r>
              <a:rPr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ual presence</a:t>
            </a:r>
            <a:endParaRPr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47065" indent="-634365" algn="ctr" rtl="0" eaLnBrk="0">
              <a:lnSpc>
                <a:spcPct val="124000"/>
              </a:lnSpc>
              <a:spcBef>
                <a:spcPts val="0"/>
              </a:spcBef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German</a:t>
            </a:r>
            <a:r>
              <a:rPr lang="en-US"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local</a:t>
            </a:r>
            <a:r>
              <a:rPr lang="en-US"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partners</a:t>
            </a:r>
            <a:r>
              <a:rPr lang="en-US"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Chinese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industry</a:t>
            </a:r>
            <a:r>
              <a:rPr lang="en-US"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resources</a:t>
            </a: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13322276" y="7831858"/>
            <a:ext cx="3213735" cy="743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rtl="0" eaLnBrk="0">
              <a:lnSpc>
                <a:spcPct val="76000"/>
              </a:lnSpc>
            </a:pPr>
            <a:r>
              <a:rPr sz="18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Application</a:t>
            </a:r>
            <a:r>
              <a:rPr sz="1800" b="1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8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insight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ctr" rtl="0" eaLnBrk="0">
              <a:lnSpc>
                <a:spcPts val="1960"/>
              </a:lnSpc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Deep</a:t>
            </a:r>
            <a:r>
              <a:rPr sz="1500" kern="0" spc="3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understanding</a:t>
            </a:r>
            <a:r>
              <a:rPr sz="1500" kern="0" spc="2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1500" kern="0" spc="2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real</a:t>
            </a:r>
            <a:r>
              <a:rPr sz="1500" kern="0" spc="3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needs</a:t>
            </a:r>
            <a:r>
              <a:rPr sz="1500" kern="0" spc="3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lang="en-US" sz="1500" dirty="0"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grid-side</a:t>
            </a:r>
            <a:r>
              <a:rPr sz="1500" kern="0" spc="3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 user-side</a:t>
            </a:r>
            <a:r>
              <a:rPr sz="1500" kern="0" spc="3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storag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9136750" y="7776511"/>
            <a:ext cx="3213735" cy="91601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93065" indent="-380365" algn="ctr" eaLnBrk="0">
              <a:lnSpc>
                <a:spcPct val="124000"/>
              </a:lnSpc>
            </a:pPr>
            <a:r>
              <a:rPr lang="en-US" altLang="zh-CN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Indus</a:t>
            </a:r>
            <a:r>
              <a:rPr lang="en-US" altLang="zh-CN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try</a:t>
            </a:r>
            <a:r>
              <a:rPr lang="en-US" altLang="zh-CN" b="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deployment</a:t>
            </a:r>
            <a:endParaRPr lang="en-US" altLang="zh-CN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indent="-380365" algn="ctr" rtl="0" eaLnBrk="0">
              <a:lnSpc>
                <a:spcPct val="124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Hands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experience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materials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 cell</a:t>
            </a:r>
            <a:r>
              <a:rPr sz="13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13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system</a:t>
            </a:r>
            <a:r>
              <a:rPr sz="13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integration</a:t>
            </a: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5451910" y="7748036"/>
            <a:ext cx="2917190" cy="82740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9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5715" algn="ctr" eaLnBrk="0">
              <a:lnSpc>
                <a:spcPct val="125000"/>
              </a:lnSpc>
            </a:pPr>
            <a:r>
              <a:rPr lang="en-US" altLang="zh-CN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Broad tech coverage</a:t>
            </a:r>
            <a:endParaRPr lang="en-US" kern="0" spc="0" dirty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indent="5715" algn="ctr" rtl="0" eaLnBrk="0">
              <a:lnSpc>
                <a:spcPct val="125000"/>
              </a:lnSpc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Full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stac</a:t>
            </a:r>
            <a:r>
              <a:rPr lang="en-US"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</a:t>
            </a:r>
            <a:r>
              <a:rPr lang="zh-CN" altLang="en-US" sz="13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knowledge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ion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solid-state,</a:t>
            </a:r>
            <a:r>
              <a:rPr lang="en-US" sz="13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flow,</a:t>
            </a:r>
            <a:r>
              <a:rPr lang="en-US" sz="13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batteries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and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upercaps</a:t>
            </a: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14932" y="1222049"/>
            <a:ext cx="15963544" cy="0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0000">
                  <a:schemeClr val="tx1"/>
                </a:gs>
                <a:gs pos="60000">
                  <a:schemeClr val="tx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14932" y="2237576"/>
            <a:ext cx="15963544" cy="0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5000">
                  <a:schemeClr val="tx1"/>
                </a:gs>
                <a:gs pos="55000">
                  <a:schemeClr val="tx1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14932" y="2820087"/>
            <a:ext cx="4925737" cy="17860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15" y="3168083"/>
            <a:ext cx="1101732" cy="110173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120094" y="2836105"/>
            <a:ext cx="4925737" cy="17860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377" y="3184101"/>
            <a:ext cx="1101732" cy="110173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11607072" y="2860815"/>
            <a:ext cx="4925737" cy="17860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9355" y="3208811"/>
            <a:ext cx="1101732" cy="1101732"/>
          </a:xfrm>
          <a:prstGeom prst="rect">
            <a:avLst/>
          </a:prstGeom>
        </p:spPr>
      </p:pic>
      <p:cxnSp>
        <p:nvCxnSpPr>
          <p:cNvPr id="29" name="连接符: 肘形 28"/>
          <p:cNvCxnSpPr>
            <a:stCxn id="9" idx="0"/>
          </p:cNvCxnSpPr>
          <p:nvPr/>
        </p:nvCxnSpPr>
        <p:spPr>
          <a:xfrm rot="5400000" flipH="1" flipV="1">
            <a:off x="5355811" y="449879"/>
            <a:ext cx="192199" cy="4548219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/>
          <p:cNvCxnSpPr>
            <a:stCxn id="19" idx="0"/>
          </p:cNvCxnSpPr>
          <p:nvPr/>
        </p:nvCxnSpPr>
        <p:spPr>
          <a:xfrm rot="16200000" flipV="1">
            <a:off x="11788380" y="579254"/>
            <a:ext cx="232926" cy="433019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/>
          <p:cNvCxnSpPr/>
          <p:nvPr/>
        </p:nvCxnSpPr>
        <p:spPr>
          <a:xfrm flipV="1">
            <a:off x="3177800" y="5080133"/>
            <a:ext cx="3832600" cy="192210"/>
          </a:xfrm>
          <a:prstGeom prst="bentConnector3">
            <a:avLst>
              <a:gd name="adj1" fmla="val 193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/>
          <p:cNvCxnSpPr/>
          <p:nvPr/>
        </p:nvCxnSpPr>
        <p:spPr>
          <a:xfrm rot="10800000">
            <a:off x="10555605" y="5059160"/>
            <a:ext cx="3514336" cy="253910"/>
          </a:xfrm>
          <a:prstGeom prst="bentConnector3">
            <a:avLst>
              <a:gd name="adj1" fmla="val -30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14931" y="5272343"/>
            <a:ext cx="4925737" cy="10211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141261" y="5292076"/>
            <a:ext cx="4925737" cy="10211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1604113" y="5313070"/>
            <a:ext cx="4925737" cy="102111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32238" y="5373675"/>
            <a:ext cx="47719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Dr. Zhao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experts</a:t>
            </a:r>
            <a:r>
              <a:rPr lang="en-US" altLang="zh-CN" sz="16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</a:t>
            </a:r>
            <a:r>
              <a:rPr lang="en-US" altLang="zh-CN" sz="1600" kern="0" spc="2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long-term</a:t>
            </a:r>
            <a:r>
              <a:rPr lang="en-US" altLang="zh-CN" sz="1600" kern="0" spc="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oxide</a:t>
            </a:r>
            <a:r>
              <a:rPr lang="en-US" altLang="zh-CN" sz="16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solid-state</a:t>
            </a:r>
            <a:r>
              <a:rPr lang="en-US" altLang="zh-CN" sz="16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el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ectrolyte</a:t>
            </a:r>
            <a:r>
              <a:rPr lang="en-US" altLang="zh-CN" sz="1600" kern="0" spc="3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research, delivering</a:t>
            </a:r>
            <a:r>
              <a:rPr lang="en-US" altLang="zh-CN" sz="1600" kern="0" spc="2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full-chain</a:t>
            </a:r>
            <a:r>
              <a:rPr lang="en-US" altLang="zh-CN" sz="16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cell</a:t>
            </a:r>
            <a:r>
              <a:rPr lang="en-US" altLang="zh-CN" sz="16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validation</a:t>
            </a:r>
            <a:r>
              <a:rPr lang="en-US" altLang="zh-CN" sz="16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</a:t>
            </a:r>
            <a:r>
              <a:rPr lang="en-US" altLang="zh-CN" sz="16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major</a:t>
            </a:r>
            <a:r>
              <a:rPr lang="en-US" altLang="zh-CN" sz="16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state-owned</a:t>
            </a:r>
            <a:r>
              <a:rPr lang="en-US" altLang="zh-CN" sz="16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6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enterprises.</a:t>
            </a:r>
            <a:endParaRPr lang="en-US" altLang="zh-CN" sz="1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6177783" y="5373675"/>
            <a:ext cx="4868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Dr Li: experts specializing in grid-side long-duration storage, with proven deployment in all- vanadium and </a:t>
            </a:r>
            <a:r>
              <a:rPr lang="en-US" altLang="zh-CN" sz="1600" dirty="0" err="1"/>
              <a:t>zino</a:t>
            </a:r>
            <a:r>
              <a:rPr lang="en-US" altLang="zh-CN" sz="1600" dirty="0"/>
              <a:t>-bromine demonstration  projects.</a:t>
            </a:r>
            <a:endParaRPr lang="en-US" altLang="zh-CN" sz="1600" dirty="0"/>
          </a:p>
        </p:txBody>
      </p:sp>
      <p:sp>
        <p:nvSpPr>
          <p:cNvPr id="42" name="文本框 41"/>
          <p:cNvSpPr txBox="1"/>
          <p:nvPr/>
        </p:nvSpPr>
        <p:spPr>
          <a:xfrm>
            <a:off x="11668683" y="5399677"/>
            <a:ext cx="4810342" cy="761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eaLnBrk="0">
              <a:lnSpc>
                <a:spcPct val="106000"/>
              </a:lnSpc>
            </a:pPr>
            <a:r>
              <a:rPr lang="en-US" altLang="zh-CN"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Mr. Wang:</a:t>
            </a:r>
            <a:r>
              <a:rPr lang="en-US" altLang="zh-CN" sz="14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experts</a:t>
            </a:r>
            <a:r>
              <a:rPr lang="en-US" altLang="zh-CN" sz="1400" kern="0" spc="3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lang="en-US" altLang="zh-CN" sz="1400" kern="0" spc="3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high-power</a:t>
            </a:r>
            <a:r>
              <a:rPr lang="en-US" altLang="zh-CN" sz="1400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sy</a:t>
            </a:r>
            <a:r>
              <a:rPr lang="en-US" altLang="zh-CN"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stems,</a:t>
            </a:r>
            <a:r>
              <a:rPr lang="en-US" altLang="zh-CN" sz="14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holding multiple</a:t>
            </a:r>
            <a:r>
              <a:rPr lang="en-US" altLang="zh-CN" sz="1400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patents with engineering applications</a:t>
            </a:r>
            <a:r>
              <a:rPr lang="en-US" altLang="zh-CN" sz="14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lang="en-US" altLang="zh-CN" sz="14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frequency</a:t>
            </a:r>
            <a:r>
              <a:rPr lang="en-US" altLang="zh-CN" sz="14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regulation</a:t>
            </a:r>
            <a:r>
              <a:rPr lang="en-US" altLang="zh-CN" sz="1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lang="en-US" altLang="zh-CN" sz="1400" kern="0" spc="1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r>
              <a:rPr lang="en-US" altLang="zh-CN" sz="14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center</a:t>
            </a:r>
            <a:r>
              <a:rPr lang="en-US" altLang="zh-CN" sz="14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r>
              <a:rPr lang="en-US" altLang="zh-CN"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ackup</a:t>
            </a:r>
            <a:r>
              <a:rPr lang="en-US" altLang="zh-CN" sz="14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altLang="zh-CN"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power.</a:t>
            </a:r>
            <a:endParaRPr lang="en-US" altLang="zh-CN"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14931" y="6619556"/>
            <a:ext cx="15879489" cy="445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连接符: 肘形 46"/>
          <p:cNvCxnSpPr>
            <a:stCxn id="6" idx="2"/>
            <a:endCxn id="19" idx="2"/>
          </p:cNvCxnSpPr>
          <p:nvPr/>
        </p:nvCxnSpPr>
        <p:spPr>
          <a:xfrm rot="5400000" flipH="1" flipV="1">
            <a:off x="8637972" y="-742147"/>
            <a:ext cx="42937" cy="10820999"/>
          </a:xfrm>
          <a:prstGeom prst="bentConnector3">
            <a:avLst>
              <a:gd name="adj1" fmla="val -343708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566550" y="4705061"/>
            <a:ext cx="0" cy="2387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923" y="7854035"/>
            <a:ext cx="199548" cy="199548"/>
          </a:xfrm>
          <a:prstGeom prst="rect">
            <a:avLst/>
          </a:prstGeom>
        </p:spPr>
      </p:pic>
      <p:cxnSp>
        <p:nvCxnSpPr>
          <p:cNvPr id="58" name="直接连接符 57"/>
          <p:cNvCxnSpPr/>
          <p:nvPr/>
        </p:nvCxnSpPr>
        <p:spPr>
          <a:xfrm>
            <a:off x="8566550" y="6313189"/>
            <a:ext cx="0" cy="2387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566550" y="7064666"/>
            <a:ext cx="0" cy="2387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609" y="7776511"/>
            <a:ext cx="294884" cy="294884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7990" y="7808950"/>
            <a:ext cx="237690" cy="237690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545" y="7846689"/>
            <a:ext cx="214239" cy="214239"/>
          </a:xfrm>
          <a:prstGeom prst="rect">
            <a:avLst/>
          </a:prstGeom>
        </p:spPr>
      </p:pic>
      <p:cxnSp>
        <p:nvCxnSpPr>
          <p:cNvPr id="69" name="连接符: 肘形 68"/>
          <p:cNvCxnSpPr>
            <a:stCxn id="16" idx="1"/>
            <a:endCxn id="22" idx="0"/>
          </p:cNvCxnSpPr>
          <p:nvPr/>
        </p:nvCxnSpPr>
        <p:spPr>
          <a:xfrm rot="10800000" flipV="1">
            <a:off x="2898140" y="7488582"/>
            <a:ext cx="4272426" cy="29905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/>
          <p:cNvCxnSpPr>
            <a:stCxn id="16" idx="3"/>
            <a:endCxn id="24" idx="0"/>
          </p:cNvCxnSpPr>
          <p:nvPr/>
        </p:nvCxnSpPr>
        <p:spPr>
          <a:xfrm>
            <a:off x="9962534" y="7488582"/>
            <a:ext cx="4966610" cy="34327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endCxn id="28" idx="0"/>
          </p:cNvCxnSpPr>
          <p:nvPr/>
        </p:nvCxnSpPr>
        <p:spPr>
          <a:xfrm>
            <a:off x="6910505" y="7488582"/>
            <a:ext cx="0" cy="2594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endCxn id="26" idx="0"/>
          </p:cNvCxnSpPr>
          <p:nvPr/>
        </p:nvCxnSpPr>
        <p:spPr>
          <a:xfrm>
            <a:off x="10743617" y="7488582"/>
            <a:ext cx="1" cy="2879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1763</Words>
  <Application>WPS 演示</Application>
  <PresentationFormat>自定义</PresentationFormat>
  <Paragraphs>55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WEI</dc:creator>
  <cp:lastModifiedBy>我爱。。。</cp:lastModifiedBy>
  <cp:revision>17</cp:revision>
  <dcterms:created xsi:type="dcterms:W3CDTF">2026-04-04T02:44:01Z</dcterms:created>
  <dcterms:modified xsi:type="dcterms:W3CDTF">2026-04-04T02:44:01Z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2026-04-03T12:23:36Z</vt:filetime>
  </property>
  <property fmtid="{D5CDD505-2E9C-101B-9397-08002B2CF9AE}" pid="4" name="UsrData">
    <vt:lpwstr>69ce5fc4115626001f98f712wl</vt:lpwstr>
  </property>
  <property fmtid="{D5CDD505-2E9C-101B-9397-08002B2CF9AE}" pid="5" name="KSOProductBuildVer">
    <vt:lpwstr>2052-7.2.1.8947</vt:lpwstr>
  </property>
  <property fmtid="{D5CDD505-2E9C-101B-9397-08002B2CF9AE}" pid="6" name="ICV">
    <vt:lpwstr>DCE1FD792128AAB0F17AD0696AC462D3_43</vt:lpwstr>
  </property>
</Properties>
</file>