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68" r:id="rId4"/>
    <p:sldId id="269" r:id="rId5"/>
    <p:sldId id="260" r:id="rId6"/>
    <p:sldId id="261" r:id="rId8"/>
    <p:sldId id="263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BD42"/>
    <a:srgbClr val="FFFFFF"/>
    <a:srgbClr val="5E8B8F"/>
    <a:srgbClr val="5E8B7E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FA04A7-1342-4630-A029-6DC145A47136}" styleName="表样式 1 19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4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4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4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Style>
        <a:tcBdr>
          <a:left>
            <a:ln>
              <a:noFill/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5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Lithium-ion Batteries</c:v>
                </c:pt>
              </c:strCache>
            </c:strRef>
          </c:tx>
          <c:spPr>
            <a:ln w="28575" cap="rnd">
              <a:solidFill>
                <a:srgbClr val="C71D2C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" lastClr="FFFFFF"/>
              </a:solidFill>
              <a:ln w="25400">
                <a:solidFill>
                  <a:srgbClr val="C71D2C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 c:formatCode="yyyy/m/d">
                  <c:v>Safety</c:v>
                </c:pt>
                <c:pt idx="1" c:formatCode="yyyy/m/d">
                  <c:v>Energy Density</c:v>
                </c:pt>
                <c:pt idx="2" c:formatCode="yyyy/m/d">
                  <c:v>Power Density</c:v>
                </c:pt>
                <c:pt idx="3" c:formatCode="yyyy/m/d">
                  <c:v>Cycling Life</c:v>
                </c:pt>
                <c:pt idx="4" c:formatCode="yyyy/m/d">
                  <c:v>Cost-effectiveness</c:v>
                </c:pt>
                <c:pt idx="5" c:formatCode="yyyy/m/d">
                  <c:v>Wide Operating Temperature Range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33</c:v>
                </c:pt>
                <c:pt idx="2">
                  <c:v>12</c:v>
                </c:pt>
                <c:pt idx="3">
                  <c:v>20</c:v>
                </c:pt>
                <c:pt idx="4">
                  <c:v>32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Sodium-ion Batteries</c:v>
                </c:pt>
              </c:strCache>
            </c:strRef>
          </c:tx>
          <c:spPr>
            <a:ln w="28575" cap="rnd">
              <a:solidFill>
                <a:srgbClr val="65BB52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" lastClr="FFFFFF"/>
              </a:solidFill>
              <a:ln w="28575">
                <a:solidFill>
                  <a:srgbClr val="65BB52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 c:formatCode="yyyy/m/d">
                  <c:v>Safety</c:v>
                </c:pt>
                <c:pt idx="1" c:formatCode="yyyy/m/d">
                  <c:v>Energy Density</c:v>
                </c:pt>
                <c:pt idx="2" c:formatCode="yyyy/m/d">
                  <c:v>Power Density</c:v>
                </c:pt>
                <c:pt idx="3" c:formatCode="yyyy/m/d">
                  <c:v>Cycling Life</c:v>
                </c:pt>
                <c:pt idx="4" c:formatCode="yyyy/m/d">
                  <c:v>Cost-effectiveness</c:v>
                </c:pt>
                <c:pt idx="5" c:formatCode="yyyy/m/d">
                  <c:v>Wide Operating Temperature Range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24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Solid-state Batteries</c:v>
                </c:pt>
              </c:strCache>
            </c:strRef>
          </c:tx>
          <c:spPr>
            <a:ln w="28575" cap="rnd">
              <a:solidFill>
                <a:srgbClr val="30C0B4">
                  <a:lumMod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5A5A5"/>
              </a:solidFill>
              <a:ln w="9525">
                <a:solidFill>
                  <a:srgbClr val="A5A5A5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 c:formatCode="yyyy/m/d">
                  <c:v>Safety</c:v>
                </c:pt>
                <c:pt idx="1" c:formatCode="yyyy/m/d">
                  <c:v>Energy Density</c:v>
                </c:pt>
                <c:pt idx="2" c:formatCode="yyyy/m/d">
                  <c:v>Power Density</c:v>
                </c:pt>
                <c:pt idx="3" c:formatCode="yyyy/m/d">
                  <c:v>Cycling Life</c:v>
                </c:pt>
                <c:pt idx="4" c:formatCode="yyyy/m/d">
                  <c:v>Cost-effectiveness</c:v>
                </c:pt>
                <c:pt idx="5" c:formatCode="yyyy/m/d">
                  <c:v>Wide Operating Temperature Range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10</c:v>
                </c:pt>
                <c:pt idx="3">
                  <c:v>18</c:v>
                </c:pt>
                <c:pt idx="4">
                  <c:v>18</c:v>
                </c:pt>
                <c:pt idx="5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Supercapacitors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 c:formatCode="yyyy/m/d">
                  <c:v>Safety</c:v>
                </c:pt>
                <c:pt idx="1" c:formatCode="yyyy/m/d">
                  <c:v>Energy Density</c:v>
                </c:pt>
                <c:pt idx="2" c:formatCode="yyyy/m/d">
                  <c:v>Power Density</c:v>
                </c:pt>
                <c:pt idx="3" c:formatCode="yyyy/m/d">
                  <c:v>Cycling Life</c:v>
                </c:pt>
                <c:pt idx="4" c:formatCode="yyyy/m/d">
                  <c:v>Cost-effectiveness</c:v>
                </c:pt>
                <c:pt idx="5" c:formatCode="yyyy/m/d">
                  <c:v>Wide Operating Temperature Range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</c:v>
                </c:pt>
                <c:pt idx="1">
                  <c:v>5</c:v>
                </c:pt>
                <c:pt idx="2">
                  <c:v>35</c:v>
                </c:pt>
                <c:pt idx="3">
                  <c:v>35</c:v>
                </c:pt>
                <c:pt idx="4">
                  <c:v>10</c:v>
                </c:pt>
                <c:pt idx="5">
                  <c:v>18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Redox Flow Batteries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5B9BD5"/>
              </a:solidFill>
              <a:ln w="9525">
                <a:solidFill>
                  <a:srgbClr val="5B9BD5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 c:formatCode="yyyy/m/d">
                  <c:v>Safety</c:v>
                </c:pt>
                <c:pt idx="1" c:formatCode="yyyy/m/d">
                  <c:v>Energy Density</c:v>
                </c:pt>
                <c:pt idx="2" c:formatCode="yyyy/m/d">
                  <c:v>Power Density</c:v>
                </c:pt>
                <c:pt idx="3" c:formatCode="yyyy/m/d">
                  <c:v>Cycling Life</c:v>
                </c:pt>
                <c:pt idx="4" c:formatCode="yyyy/m/d">
                  <c:v>Cost-effectiveness</c:v>
                </c:pt>
                <c:pt idx="5" c:formatCode="yyyy/m/d">
                  <c:v>Wide Operating Temperature Range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35</c:v>
                </c:pt>
                <c:pt idx="1">
                  <c:v>7</c:v>
                </c:pt>
                <c:pt idx="2">
                  <c:v>10</c:v>
                </c:pt>
                <c:pt idx="3">
                  <c:v>25</c:v>
                </c:pt>
                <c:pt idx="4">
                  <c:v>15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645015391"/>
        <c:axId val="929308495"/>
      </c:radarChart>
      <c:catAx>
        <c:axId val="645015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1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  <c:crossAx val="929308495"/>
        <c:crosses val="autoZero"/>
        <c:auto val="1"/>
        <c:lblAlgn val="ctr"/>
        <c:lblOffset val="100"/>
        <c:noMultiLvlLbl val="0"/>
      </c:catAx>
      <c:valAx>
        <c:axId val="92930849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ysClr val="windowText" lastClr="00000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</a:p>
        </c:txPr>
        <c:crossAx val="645015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cap="none" spc="0" normalizeH="0" baseline="0">
                <a:solidFill>
                  <a:schemeClr val="tx1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cap="none" spc="0" normalizeH="0" baseline="0">
                <a:solidFill>
                  <a:schemeClr val="tx1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cap="none" spc="0" normalizeH="0" baseline="0">
                <a:solidFill>
                  <a:schemeClr val="tx1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cap="none" spc="0" normalizeH="0" baseline="0">
                <a:solidFill>
                  <a:schemeClr val="tx1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cap="none" spc="0" normalizeH="0" baseline="0">
                <a:solidFill>
                  <a:schemeClr val="tx1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+mn-ea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cap="none" spc="0" normalizeH="0" baseline="0">
              <a:solidFill>
                <a:schemeClr val="tx1"/>
              </a:solidFill>
              <a:uFillTx/>
              <a:latin typeface="Times New Roman" panose="02020503050405090304" charset="0"/>
              <a:ea typeface="微软雅黑" panose="020B0503020204020204" charset="-122"/>
              <a:cs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da1cfcf-44f6-4ced-99c5-636a48d2ce8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14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33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33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195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195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6.xml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svg"/><Relationship Id="rId14" Type="http://schemas.openxmlformats.org/officeDocument/2006/relationships/image" Target="../media/image17.png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" name="Text 4"/>
          <p:cNvSpPr/>
          <p:nvPr/>
        </p:nvSpPr>
        <p:spPr>
          <a:xfrm>
            <a:off x="393700" y="4029075"/>
            <a:ext cx="4398010" cy="1410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00B050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Bridging Advanced Energy Storage </a:t>
            </a:r>
            <a:endParaRPr lang="en-US" sz="3200" b="1" dirty="0">
              <a:solidFill>
                <a:srgbClr val="00B050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00B050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to </a:t>
            </a:r>
            <a:r>
              <a:rPr lang="en-US" altLang="zh-CN" sz="3200" b="1" dirty="0">
                <a:solidFill>
                  <a:srgbClr val="00B050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the World</a:t>
            </a:r>
            <a:endParaRPr lang="en-US" altLang="zh-CN" sz="3200" b="1" dirty="0">
              <a:solidFill>
                <a:srgbClr val="00B050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7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12192000" cy="33972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64530" y="3948430"/>
            <a:ext cx="5927090" cy="216852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b="1" i="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With expertise spanning sodium-ion, solid-state, flow batteries, and supercapacitors, we connect The World clients with optimal energy storage solutions—backed by deep industry knowledge, direct supply chain access, and local European presence.</a:t>
            </a:r>
            <a:endParaRPr lang="en-US" b="1" i="0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图表 3"/>
          <p:cNvGraphicFramePr/>
          <p:nvPr/>
        </p:nvGraphicFramePr>
        <p:xfrm>
          <a:off x="551815" y="224790"/>
          <a:ext cx="11305540" cy="641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0"/>
          <p:cNvSpPr/>
          <p:nvPr/>
        </p:nvSpPr>
        <p:spPr>
          <a:xfrm>
            <a:off x="501650" y="6477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</p:sp>
      <p:sp>
        <p:nvSpPr>
          <p:cNvPr id="6" name="Text 1"/>
          <p:cNvSpPr/>
          <p:nvPr/>
        </p:nvSpPr>
        <p:spPr>
          <a:xfrm>
            <a:off x="730250" y="647700"/>
            <a:ext cx="3600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endParaRPr lang="en-US" sz="27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Alimama ShuHeiTi" pitchFamily="34" charset="-122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2150" y="647700"/>
            <a:ext cx="10446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  <a:sym typeface="+mn-ea"/>
              </a:rPr>
              <a:t>Comprehensive Comparison of Advanced Energy Storage Technologies (For energy storage use)</a:t>
            </a:r>
            <a:endParaRPr lang="en-US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en-US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385763" y="1262063"/>
            <a:ext cx="11420475" cy="5210175"/>
          </a:xfrm>
          <a:custGeom>
            <a:avLst/>
            <a:gdLst/>
            <a:ahLst/>
            <a:cxnLst/>
            <a:rect l="l" t="t" r="r" b="b"/>
            <a:pathLst>
              <a:path w="11420475" h="5210175">
                <a:moveTo>
                  <a:pt x="114311" y="0"/>
                </a:moveTo>
                <a:lnTo>
                  <a:pt x="11306164" y="0"/>
                </a:lnTo>
                <a:cubicBezTo>
                  <a:pt x="11369296" y="0"/>
                  <a:pt x="11420475" y="51179"/>
                  <a:pt x="11420475" y="114311"/>
                </a:cubicBezTo>
                <a:lnTo>
                  <a:pt x="11420475" y="5095864"/>
                </a:lnTo>
                <a:cubicBezTo>
                  <a:pt x="11420475" y="5158996"/>
                  <a:pt x="11369296" y="5210175"/>
                  <a:pt x="11306164" y="5210175"/>
                </a:cubicBezTo>
                <a:lnTo>
                  <a:pt x="114311" y="5210175"/>
                </a:lnTo>
                <a:cubicBezTo>
                  <a:pt x="51179" y="5210175"/>
                  <a:pt x="0" y="5158996"/>
                  <a:pt x="0" y="50958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  <a:alpha val="30000"/>
            </a:scheme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2925" y="1419225"/>
          <a:ext cx="11106150" cy="4244975"/>
        </p:xfrm>
        <a:graphic>
          <a:graphicData uri="http://schemas.openxmlformats.org/drawingml/2006/table">
            <a:tbl>
              <a:tblPr firstRow="1" bandRow="1">
                <a:tableStyleId>{69FA04A7-1342-4630-A029-6DC145A47136}</a:tableStyleId>
              </a:tblPr>
              <a:tblGrid>
                <a:gridCol w="2092325"/>
                <a:gridCol w="1682625"/>
                <a:gridCol w="1778125"/>
                <a:gridCol w="1778125"/>
                <a:gridCol w="1778125"/>
                <a:gridCol w="1996825"/>
              </a:tblGrid>
              <a:tr h="6064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u="none" dirty="0">
                          <a:latin typeface="Times New Roman" panose="02020503050405090304" charset="0"/>
                        </a:rPr>
                        <a:t>Technical Indicators</a:t>
                      </a:r>
                      <a:endParaRPr lang="en-US" altLang="zh-CN" sz="1300" u="none" dirty="0">
                        <a:latin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Sodium-ion Battery</a:t>
                      </a:r>
                      <a:endParaRPr lang="en-US" altLang="zh-CN" sz="13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Solid-State Battery</a:t>
                      </a:r>
                      <a:endParaRPr lang="en-US" altLang="zh-CN" sz="13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Redox Flow Battery</a:t>
                      </a:r>
                      <a:endParaRPr lang="en-US" altLang="zh-CN" sz="13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Supercapacitor</a:t>
                      </a:r>
                      <a:endParaRPr lang="en-US" altLang="zh-CN" sz="13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Lithium-ion Battery</a:t>
                      </a:r>
                      <a:endParaRPr lang="en-US" altLang="zh-CN" sz="13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lang="en-US" altLang="zh-CN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Cost-Effectiveness</a:t>
                      </a:r>
                      <a:endParaRPr lang="en-US" altLang="zh-CN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Safety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lang="en-US" altLang="zh-CN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Wide temperature range</a:t>
                      </a:r>
                      <a:endParaRPr lang="en-US" altLang="zh-CN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-40-70</a:t>
                      </a: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℃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-20-60</a:t>
                      </a: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℃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-10-50</a:t>
                      </a: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℃</a:t>
                      </a:r>
                      <a:endParaRPr lang="en-US" altLang="zh-CN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-20-60℃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-20-60℃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Cycling Life 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8000-10000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6000-8000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＞</a:t>
                      </a:r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15,000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＞</a:t>
                      </a:r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 Million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8000-10000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Energy Density</a:t>
                      </a:r>
                      <a:r>
                        <a:rPr lang="zh-CN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（</a:t>
                      </a: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Wh/kg</a:t>
                      </a:r>
                      <a:r>
                        <a:rPr lang="zh-CN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）</a:t>
                      </a:r>
                      <a:endParaRPr lang="zh-CN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160-180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160-180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100-110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5-10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30-40</a:t>
                      </a:r>
                      <a:endParaRPr 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  <a:tr h="6064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Power Density</a:t>
                      </a:r>
                      <a:r>
                        <a:rPr lang="zh-CN" alt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k</a:t>
                      </a:r>
                      <a:r>
                        <a:rPr 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W/kg</a:t>
                      </a:r>
                      <a:r>
                        <a:rPr lang="zh-CN" alt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）</a:t>
                      </a:r>
                      <a:endParaRPr lang="zh-CN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0.1</a:t>
                      </a:r>
                      <a:endParaRPr lang="en-US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0.05-0.1</a:t>
                      </a:r>
                      <a:endParaRPr lang="en-US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u="none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0.01</a:t>
                      </a:r>
                      <a:endParaRPr lang="en-US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＞</a:t>
                      </a:r>
                      <a:r>
                        <a:rPr lang="en-US" altLang="zh-CN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10</a:t>
                      </a:r>
                      <a:endParaRPr lang="en-US" altLang="zh-CN" sz="1200" u="none" dirty="0"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0.05-0.1</a:t>
                      </a:r>
                      <a:endParaRPr lang="en-US" altLang="en-US" sz="1200" u="none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380490" y="5790565"/>
            <a:ext cx="103187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gradFill>
                  <a:gsLst>
                    <a:gs pos="50000">
                      <a:srgbClr val="2CAF29"/>
                    </a:gs>
                    <a:gs pos="2000">
                      <a:srgbClr val="A3E9A3"/>
                    </a:gs>
                    <a:gs pos="100000">
                      <a:srgbClr val="0B8F08"/>
                    </a:gs>
                  </a:gsLst>
                  <a:lin ang="16200000" scaled="0"/>
                </a:gra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With multi-technology coverage, we identify the optimal eneragy storage solution for each client.</a:t>
            </a:r>
            <a:endParaRPr lang="en-US" altLang="zh-CN" sz="1600" b="1" i="0">
              <a:gradFill>
                <a:gsLst>
                  <a:gs pos="50000">
                    <a:srgbClr val="2CAF29"/>
                  </a:gs>
                  <a:gs pos="2000">
                    <a:srgbClr val="A3E9A3"/>
                  </a:gs>
                  <a:gs pos="100000">
                    <a:srgbClr val="0B8F08"/>
                  </a:gs>
                </a:gsLst>
                <a:lin ang="16200000" scaled="0"/>
              </a:gra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5135" y="6227445"/>
            <a:ext cx="73729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1">
                    <a:lumMod val="65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* Note: Each energy storage technology encompasses different chemistries; the parameters shown here are representative of typical products.</a:t>
            </a:r>
            <a:endParaRPr lang="en-US" altLang="zh-CN" sz="1000">
              <a:solidFill>
                <a:schemeClr val="bg1">
                  <a:lumMod val="65000"/>
                </a:schemeClr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五角星 2"/>
          <p:cNvSpPr/>
          <p:nvPr/>
        </p:nvSpPr>
        <p:spPr>
          <a:xfrm>
            <a:off x="286067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五角星 3"/>
          <p:cNvSpPr/>
          <p:nvPr/>
        </p:nvSpPr>
        <p:spPr>
          <a:xfrm>
            <a:off x="311467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五角星 6"/>
          <p:cNvSpPr/>
          <p:nvPr/>
        </p:nvSpPr>
        <p:spPr>
          <a:xfrm>
            <a:off x="336867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五角星 7"/>
          <p:cNvSpPr/>
          <p:nvPr/>
        </p:nvSpPr>
        <p:spPr>
          <a:xfrm>
            <a:off x="362267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五角星 12"/>
          <p:cNvSpPr/>
          <p:nvPr/>
        </p:nvSpPr>
        <p:spPr>
          <a:xfrm>
            <a:off x="3876675" y="2224405"/>
            <a:ext cx="192405" cy="217170"/>
          </a:xfrm>
          <a:prstGeom prst="star5">
            <a:avLst/>
          </a:prstGeom>
          <a:gradFill>
            <a:gsLst>
              <a:gs pos="8000">
                <a:schemeClr val="accent4"/>
              </a:gs>
              <a:gs pos="53000">
                <a:srgbClr val="FAFAFA"/>
              </a:gs>
              <a:gs pos="99000">
                <a:srgbClr val="FAFAFA"/>
              </a:gs>
            </a:gsLst>
            <a:lin ang="0" scaled="1"/>
          </a:gradFill>
          <a:ln w="3175">
            <a:solidFill>
              <a:srgbClr val="75BD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五角星 13"/>
          <p:cNvSpPr/>
          <p:nvPr/>
        </p:nvSpPr>
        <p:spPr>
          <a:xfrm>
            <a:off x="661289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五角星 14"/>
          <p:cNvSpPr/>
          <p:nvPr/>
        </p:nvSpPr>
        <p:spPr>
          <a:xfrm>
            <a:off x="686689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五角星 15"/>
          <p:cNvSpPr/>
          <p:nvPr/>
        </p:nvSpPr>
        <p:spPr>
          <a:xfrm>
            <a:off x="712089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五角星 28"/>
          <p:cNvSpPr/>
          <p:nvPr/>
        </p:nvSpPr>
        <p:spPr>
          <a:xfrm>
            <a:off x="1011110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五角星 29"/>
          <p:cNvSpPr/>
          <p:nvPr/>
        </p:nvSpPr>
        <p:spPr>
          <a:xfrm>
            <a:off x="1036510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五角星 30"/>
          <p:cNvSpPr/>
          <p:nvPr/>
        </p:nvSpPr>
        <p:spPr>
          <a:xfrm>
            <a:off x="1061910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五角星 31"/>
          <p:cNvSpPr/>
          <p:nvPr/>
        </p:nvSpPr>
        <p:spPr>
          <a:xfrm>
            <a:off x="1087310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五角星 32"/>
          <p:cNvSpPr/>
          <p:nvPr/>
        </p:nvSpPr>
        <p:spPr>
          <a:xfrm>
            <a:off x="11127105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五角星 33"/>
          <p:cNvSpPr/>
          <p:nvPr/>
        </p:nvSpPr>
        <p:spPr>
          <a:xfrm>
            <a:off x="476885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五角星 34"/>
          <p:cNvSpPr/>
          <p:nvPr/>
        </p:nvSpPr>
        <p:spPr>
          <a:xfrm>
            <a:off x="502285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五角星 35"/>
          <p:cNvSpPr/>
          <p:nvPr/>
        </p:nvSpPr>
        <p:spPr>
          <a:xfrm>
            <a:off x="527685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五角星 36"/>
          <p:cNvSpPr/>
          <p:nvPr/>
        </p:nvSpPr>
        <p:spPr>
          <a:xfrm>
            <a:off x="553085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五角星 38"/>
          <p:cNvSpPr/>
          <p:nvPr/>
        </p:nvSpPr>
        <p:spPr>
          <a:xfrm>
            <a:off x="850900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五角星 39"/>
          <p:cNvSpPr/>
          <p:nvPr/>
        </p:nvSpPr>
        <p:spPr>
          <a:xfrm>
            <a:off x="8763000" y="222440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五角星 43"/>
          <p:cNvSpPr/>
          <p:nvPr/>
        </p:nvSpPr>
        <p:spPr>
          <a:xfrm>
            <a:off x="635889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五角星 44"/>
          <p:cNvSpPr/>
          <p:nvPr/>
        </p:nvSpPr>
        <p:spPr>
          <a:xfrm>
            <a:off x="661289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五角星 45"/>
          <p:cNvSpPr/>
          <p:nvPr/>
        </p:nvSpPr>
        <p:spPr>
          <a:xfrm>
            <a:off x="686689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五角星 46"/>
          <p:cNvSpPr/>
          <p:nvPr/>
        </p:nvSpPr>
        <p:spPr>
          <a:xfrm>
            <a:off x="712089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五角星 47"/>
          <p:cNvSpPr/>
          <p:nvPr/>
        </p:nvSpPr>
        <p:spPr>
          <a:xfrm>
            <a:off x="737489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五角星 48"/>
          <p:cNvSpPr/>
          <p:nvPr/>
        </p:nvSpPr>
        <p:spPr>
          <a:xfrm>
            <a:off x="8193405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五角星 49"/>
          <p:cNvSpPr/>
          <p:nvPr/>
        </p:nvSpPr>
        <p:spPr>
          <a:xfrm>
            <a:off x="8447405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五角星 50"/>
          <p:cNvSpPr/>
          <p:nvPr/>
        </p:nvSpPr>
        <p:spPr>
          <a:xfrm>
            <a:off x="8701405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五角星 51"/>
          <p:cNvSpPr/>
          <p:nvPr/>
        </p:nvSpPr>
        <p:spPr>
          <a:xfrm>
            <a:off x="8955405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五角星 52"/>
          <p:cNvSpPr/>
          <p:nvPr/>
        </p:nvSpPr>
        <p:spPr>
          <a:xfrm>
            <a:off x="9209405" y="2797175"/>
            <a:ext cx="192405" cy="217170"/>
          </a:xfrm>
          <a:prstGeom prst="star5">
            <a:avLst/>
          </a:prstGeom>
          <a:gradFill>
            <a:gsLst>
              <a:gs pos="8000">
                <a:schemeClr val="accent4"/>
              </a:gs>
              <a:gs pos="53000">
                <a:srgbClr val="FAFAFA"/>
              </a:gs>
              <a:gs pos="99000">
                <a:srgbClr val="FAFAFA"/>
              </a:gs>
            </a:gsLst>
            <a:lin ang="0" scaled="1"/>
          </a:gradFill>
          <a:ln w="3175">
            <a:solidFill>
              <a:srgbClr val="75BD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五角星 53"/>
          <p:cNvSpPr/>
          <p:nvPr/>
        </p:nvSpPr>
        <p:spPr>
          <a:xfrm>
            <a:off x="1037971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五角星 54"/>
          <p:cNvSpPr/>
          <p:nvPr/>
        </p:nvSpPr>
        <p:spPr>
          <a:xfrm>
            <a:off x="1063371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五角星 55"/>
          <p:cNvSpPr/>
          <p:nvPr/>
        </p:nvSpPr>
        <p:spPr>
          <a:xfrm>
            <a:off x="1088771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五角星 60"/>
          <p:cNvSpPr/>
          <p:nvPr/>
        </p:nvSpPr>
        <p:spPr>
          <a:xfrm>
            <a:off x="299085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五角星 61"/>
          <p:cNvSpPr/>
          <p:nvPr/>
        </p:nvSpPr>
        <p:spPr>
          <a:xfrm>
            <a:off x="324485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五角星 62"/>
          <p:cNvSpPr/>
          <p:nvPr/>
        </p:nvSpPr>
        <p:spPr>
          <a:xfrm>
            <a:off x="349885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五角星 63"/>
          <p:cNvSpPr/>
          <p:nvPr/>
        </p:nvSpPr>
        <p:spPr>
          <a:xfrm>
            <a:off x="375285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五角星 64"/>
          <p:cNvSpPr/>
          <p:nvPr/>
        </p:nvSpPr>
        <p:spPr>
          <a:xfrm>
            <a:off x="464058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五角星 65"/>
          <p:cNvSpPr/>
          <p:nvPr/>
        </p:nvSpPr>
        <p:spPr>
          <a:xfrm>
            <a:off x="489458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五角星 66"/>
          <p:cNvSpPr/>
          <p:nvPr/>
        </p:nvSpPr>
        <p:spPr>
          <a:xfrm>
            <a:off x="514858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五角星 67"/>
          <p:cNvSpPr/>
          <p:nvPr/>
        </p:nvSpPr>
        <p:spPr>
          <a:xfrm>
            <a:off x="5402580" y="2797175"/>
            <a:ext cx="192405" cy="217170"/>
          </a:xfrm>
          <a:prstGeom prst="star5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五角星 68"/>
          <p:cNvSpPr/>
          <p:nvPr/>
        </p:nvSpPr>
        <p:spPr>
          <a:xfrm>
            <a:off x="5656580" y="2797175"/>
            <a:ext cx="192405" cy="217170"/>
          </a:xfrm>
          <a:prstGeom prst="star5">
            <a:avLst/>
          </a:prstGeom>
          <a:gradFill>
            <a:gsLst>
              <a:gs pos="8000">
                <a:schemeClr val="accent4"/>
              </a:gs>
              <a:gs pos="53000">
                <a:srgbClr val="FAFAFA"/>
              </a:gs>
              <a:gs pos="99000">
                <a:srgbClr val="FAFAFA"/>
              </a:gs>
            </a:gsLst>
            <a:lin ang="0" scaled="1"/>
          </a:gradFill>
          <a:ln w="3175">
            <a:solidFill>
              <a:srgbClr val="75BD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4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609600" y="381000"/>
            <a:ext cx="5762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8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Our Technology Focus</a:t>
            </a:r>
            <a:endParaRPr lang="en-US" sz="18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5" name="Shape 0"/>
          <p:cNvSpPr/>
          <p:nvPr/>
        </p:nvSpPr>
        <p:spPr>
          <a:xfrm>
            <a:off x="425450" y="381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</p:sp>
      <p:sp>
        <p:nvSpPr>
          <p:cNvPr id="4" name="Shape 3"/>
          <p:cNvSpPr/>
          <p:nvPr/>
        </p:nvSpPr>
        <p:spPr>
          <a:xfrm>
            <a:off x="385763" y="12620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81025" y="1457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  <a:alpha val="20000"/>
            </a:schemeClr>
          </a:solidFill>
        </p:spPr>
      </p:sp>
      <p:sp>
        <p:nvSpPr>
          <p:cNvPr id="9" name="Text 7"/>
          <p:cNvSpPr/>
          <p:nvPr/>
        </p:nvSpPr>
        <p:spPr>
          <a:xfrm>
            <a:off x="1540510" y="1499870"/>
            <a:ext cx="4336415" cy="516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10000"/>
              </a:lnSpc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Sodium-ion Batteries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—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a key complement to lithium ion batteries.</a:t>
            </a:r>
            <a:endParaRPr lang="en-US" altLang="zh-CN" sz="14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endParaRPr lang="en-US" altLang="zh-CN" sz="14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96013" y="12620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0890" y="1457325"/>
            <a:ext cx="3941445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Solid-state Batteries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14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5763" y="39671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423670" y="4048125"/>
            <a:ext cx="259397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Redox Flow Batteries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196013" y="39671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8160" y="4016375"/>
            <a:ext cx="2609850" cy="379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Supercapacitors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09600" y="723582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200" b="1" i="0">
                <a:solidFill>
                  <a:schemeClr val="bg1">
                    <a:lumMod val="6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Focusing on the Frontier, Covering Diverse Storage Technologies</a:t>
            </a:r>
            <a:endParaRPr lang="en-US" altLang="zh-CN" sz="1200" b="1" i="0">
              <a:solidFill>
                <a:schemeClr val="bg1">
                  <a:lumMod val="6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2449830" y="3409950"/>
            <a:ext cx="1240790" cy="269240"/>
            <a:chOff x="3858" y="5370"/>
            <a:chExt cx="1954" cy="424"/>
          </a:xfrm>
        </p:grpSpPr>
        <p:sp>
          <p:nvSpPr>
            <p:cNvPr id="17" name="Text 15"/>
            <p:cNvSpPr/>
            <p:nvPr/>
          </p:nvSpPr>
          <p:spPr>
            <a:xfrm>
              <a:off x="4063" y="5415"/>
              <a:ext cx="1201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92D050"/>
                  </a:solidFill>
                  <a:latin typeface="Times New Roman" panose="02020503050405090304" charset="0"/>
                  <a:ea typeface="MiSans" pitchFamily="34" charset="-122"/>
                  <a:cs typeface="MiSans" pitchFamily="34" charset="-120"/>
                </a:rPr>
                <a:t>learn more</a:t>
              </a:r>
              <a:endParaRPr lang="en-US" sz="1200" b="1" dirty="0">
                <a:solidFill>
                  <a:srgbClr val="92D050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5264" y="5505"/>
              <a:ext cx="293" cy="21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0902" y="72561"/>
                  </a:moveTo>
                  <a:cubicBezTo>
                    <a:pt x="134157" y="69306"/>
                    <a:pt x="134157" y="64018"/>
                    <a:pt x="130902" y="60763"/>
                  </a:cubicBezTo>
                  <a:lnTo>
                    <a:pt x="89230" y="19091"/>
                  </a:lnTo>
                  <a:cubicBezTo>
                    <a:pt x="85974" y="15835"/>
                    <a:pt x="80687" y="15835"/>
                    <a:pt x="77432" y="19091"/>
                  </a:cubicBezTo>
                  <a:cubicBezTo>
                    <a:pt x="74176" y="22347"/>
                    <a:pt x="74176" y="27634"/>
                    <a:pt x="77432" y="30889"/>
                  </a:cubicBezTo>
                  <a:lnTo>
                    <a:pt x="104883" y="58341"/>
                  </a:lnTo>
                  <a:lnTo>
                    <a:pt x="8334" y="58341"/>
                  </a:lnTo>
                  <a:cubicBezTo>
                    <a:pt x="3724" y="58341"/>
                    <a:pt x="0" y="62065"/>
                    <a:pt x="0" y="66675"/>
                  </a:cubicBezTo>
                  <a:cubicBezTo>
                    <a:pt x="0" y="71285"/>
                    <a:pt x="3724" y="75009"/>
                    <a:pt x="8334" y="75009"/>
                  </a:cubicBezTo>
                  <a:lnTo>
                    <a:pt x="104883" y="75009"/>
                  </a:lnTo>
                  <a:lnTo>
                    <a:pt x="77432" y="102461"/>
                  </a:lnTo>
                  <a:cubicBezTo>
                    <a:pt x="74176" y="105716"/>
                    <a:pt x="74176" y="111003"/>
                    <a:pt x="77432" y="114259"/>
                  </a:cubicBezTo>
                  <a:cubicBezTo>
                    <a:pt x="80687" y="117515"/>
                    <a:pt x="85974" y="117515"/>
                    <a:pt x="89230" y="114259"/>
                  </a:cubicBezTo>
                  <a:lnTo>
                    <a:pt x="130902" y="72587"/>
                  </a:lnTo>
                  <a:close/>
                </a:path>
              </a:pathLst>
            </a:custGeom>
            <a:solidFill>
              <a:srgbClr val="92D050"/>
            </a:solidFill>
          </p:spPr>
        </p:sp>
        <p:sp>
          <p:nvSpPr>
            <p:cNvPr id="66" name="圆角矩形 65"/>
            <p:cNvSpPr/>
            <p:nvPr/>
          </p:nvSpPr>
          <p:spPr>
            <a:xfrm>
              <a:off x="3858" y="5370"/>
              <a:ext cx="1954" cy="425"/>
            </a:xfrm>
            <a:prstGeom prst="roundRect">
              <a:avLst/>
            </a:prstGeom>
            <a:noFill/>
            <a:ln w="19050" cmpd="sng">
              <a:solidFill>
                <a:srgbClr val="92D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75BD42"/>
                </a:solidFill>
              </a:endParaRPr>
            </a:p>
          </p:txBody>
        </p:sp>
      </p:grpSp>
      <p:pic>
        <p:nvPicPr>
          <p:cNvPr id="70" name="图片 69" descr="钠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650" y="1499870"/>
            <a:ext cx="910590" cy="910590"/>
          </a:xfrm>
          <a:prstGeom prst="rect">
            <a:avLst/>
          </a:prstGeom>
        </p:spPr>
      </p:pic>
      <p:pic>
        <p:nvPicPr>
          <p:cNvPr id="71" name="图片 70" descr="图标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5920" y="1990725"/>
            <a:ext cx="550545" cy="550545"/>
          </a:xfrm>
          <a:prstGeom prst="rect">
            <a:avLst/>
          </a:prstGeom>
        </p:spPr>
      </p:pic>
      <p:pic>
        <p:nvPicPr>
          <p:cNvPr id="72" name="图片 71" descr="图标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9570" y="2586355"/>
            <a:ext cx="556895" cy="556895"/>
          </a:xfrm>
          <a:prstGeom prst="rect">
            <a:avLst/>
          </a:prstGeom>
        </p:spPr>
      </p:pic>
      <p:pic>
        <p:nvPicPr>
          <p:cNvPr id="73" name="图片 72" descr="全球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2075" y="2180590"/>
            <a:ext cx="819785" cy="819785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2225675" y="2180590"/>
            <a:ext cx="1866265" cy="79502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Abundant Resources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  <a:p>
            <a:pPr marL="171450" indent="-17145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Globally Balanced Distribution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639945" y="2180590"/>
            <a:ext cx="186626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Excellent Wide-Temperature Performance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  <a:p>
            <a:pPr indent="0">
              <a:buSzPct val="70000"/>
              <a:buFont typeface="Wingdings" panose="05000000000000000000" charset="0"/>
              <a:buNone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      (-40-70℃)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  <a:p>
            <a:pPr indent="0">
              <a:buSzPct val="70000"/>
              <a:buFont typeface="Wingdings" panose="05000000000000000000" charset="0"/>
              <a:buNone/>
            </a:pP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09600" y="3105785"/>
            <a:ext cx="537527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200" b="1" i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Suitable for high/low-temperature base station backup and C&amp;I energy storage</a:t>
            </a:r>
            <a:endParaRPr lang="en-US" altLang="zh-CN" sz="1200" b="1" i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414905" y="6115050"/>
            <a:ext cx="1240790" cy="269240"/>
            <a:chOff x="3858" y="5370"/>
            <a:chExt cx="1954" cy="424"/>
          </a:xfrm>
        </p:grpSpPr>
        <p:sp>
          <p:nvSpPr>
            <p:cNvPr id="83" name="Text 15"/>
            <p:cNvSpPr/>
            <p:nvPr/>
          </p:nvSpPr>
          <p:spPr>
            <a:xfrm>
              <a:off x="4063" y="5415"/>
              <a:ext cx="1201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92D050"/>
                  </a:solidFill>
                  <a:latin typeface="Times New Roman" panose="02020503050405090304" charset="0"/>
                  <a:ea typeface="MiSans" pitchFamily="34" charset="-122"/>
                  <a:cs typeface="MiSans" pitchFamily="34" charset="-120"/>
                </a:rPr>
                <a:t>learn more</a:t>
              </a:r>
              <a:endParaRPr lang="en-US" sz="1200" b="1" dirty="0">
                <a:solidFill>
                  <a:srgbClr val="92D050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Shape 16"/>
            <p:cNvSpPr/>
            <p:nvPr/>
          </p:nvSpPr>
          <p:spPr>
            <a:xfrm>
              <a:off x="5264" y="5505"/>
              <a:ext cx="293" cy="21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0902" y="72561"/>
                  </a:moveTo>
                  <a:cubicBezTo>
                    <a:pt x="134157" y="69306"/>
                    <a:pt x="134157" y="64018"/>
                    <a:pt x="130902" y="60763"/>
                  </a:cubicBezTo>
                  <a:lnTo>
                    <a:pt x="89230" y="19091"/>
                  </a:lnTo>
                  <a:cubicBezTo>
                    <a:pt x="85974" y="15835"/>
                    <a:pt x="80687" y="15835"/>
                    <a:pt x="77432" y="19091"/>
                  </a:cubicBezTo>
                  <a:cubicBezTo>
                    <a:pt x="74176" y="22347"/>
                    <a:pt x="74176" y="27634"/>
                    <a:pt x="77432" y="30889"/>
                  </a:cubicBezTo>
                  <a:lnTo>
                    <a:pt x="104883" y="58341"/>
                  </a:lnTo>
                  <a:lnTo>
                    <a:pt x="8334" y="58341"/>
                  </a:lnTo>
                  <a:cubicBezTo>
                    <a:pt x="3724" y="58341"/>
                    <a:pt x="0" y="62065"/>
                    <a:pt x="0" y="66675"/>
                  </a:cubicBezTo>
                  <a:cubicBezTo>
                    <a:pt x="0" y="71285"/>
                    <a:pt x="3724" y="75009"/>
                    <a:pt x="8334" y="75009"/>
                  </a:cubicBezTo>
                  <a:lnTo>
                    <a:pt x="104883" y="75009"/>
                  </a:lnTo>
                  <a:lnTo>
                    <a:pt x="77432" y="102461"/>
                  </a:lnTo>
                  <a:cubicBezTo>
                    <a:pt x="74176" y="105716"/>
                    <a:pt x="74176" y="111003"/>
                    <a:pt x="77432" y="114259"/>
                  </a:cubicBezTo>
                  <a:cubicBezTo>
                    <a:pt x="80687" y="117515"/>
                    <a:pt x="85974" y="117515"/>
                    <a:pt x="89230" y="114259"/>
                  </a:cubicBezTo>
                  <a:lnTo>
                    <a:pt x="130902" y="72587"/>
                  </a:lnTo>
                  <a:close/>
                </a:path>
              </a:pathLst>
            </a:custGeom>
            <a:solidFill>
              <a:srgbClr val="92D050"/>
            </a:solidFill>
          </p:spPr>
        </p:sp>
        <p:sp>
          <p:nvSpPr>
            <p:cNvPr id="85" name="圆角矩形 84"/>
            <p:cNvSpPr/>
            <p:nvPr/>
          </p:nvSpPr>
          <p:spPr>
            <a:xfrm>
              <a:off x="3858" y="5370"/>
              <a:ext cx="1954" cy="425"/>
            </a:xfrm>
            <a:prstGeom prst="roundRect">
              <a:avLst/>
            </a:prstGeom>
            <a:noFill/>
            <a:ln w="19050" cmpd="sng">
              <a:solidFill>
                <a:srgbClr val="92D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75BD42"/>
                </a:solidFill>
              </a:endParaRPr>
            </a:p>
          </p:txBody>
        </p:sp>
      </p:grpSp>
      <p:pic>
        <p:nvPicPr>
          <p:cNvPr id="86" name="图片 85" descr="安全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12240" y="4733925"/>
            <a:ext cx="766445" cy="76644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04875" y="5768022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200" b="1" i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Ideal for Grid Peak Shaving and Urban Dense Energy Storage</a:t>
            </a:r>
            <a:endParaRPr lang="en-US" altLang="zh-CN" sz="1200" b="1" i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209165" y="4733925"/>
            <a:ext cx="1808480" cy="755015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fontAlgn="auto">
              <a:lnSpc>
                <a:spcPct val="120000"/>
              </a:lnSpc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Intrinsically Safe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  <a:p>
            <a:pPr marL="171450" indent="-171450" fontAlgn="auto">
              <a:lnSpc>
                <a:spcPct val="120000"/>
              </a:lnSpc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Non-Flammable Aqueous Electrolyte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pic>
        <p:nvPicPr>
          <p:cNvPr id="95" name="图片 94" descr="闪电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42455" y="4674870"/>
            <a:ext cx="868045" cy="8680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54290" y="4897755"/>
            <a:ext cx="164846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Ultra-fast charge/discharge (&lt;10ms response) 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8160" y="4374832"/>
            <a:ext cx="5080000" cy="32766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en-US" altLang="zh-CN" sz="1400" b="1" i="0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——instantaneous power support</a:t>
            </a:r>
            <a:endParaRPr lang="en-US" altLang="zh-CN" sz="1400" b="1" i="0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294620" y="4843780"/>
            <a:ext cx="1579245" cy="699135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fontAlgn="auto">
              <a:lnSpc>
                <a:spcPct val="110000"/>
              </a:lnSpc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million-cycle life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  <a:p>
            <a:pPr marL="171450" indent="-171450" fontAlgn="auto">
              <a:lnSpc>
                <a:spcPct val="110000"/>
              </a:lnSpc>
              <a:buSzPct val="70000"/>
              <a:buFont typeface="Wingdings" panose="05000000000000000000" charset="0"/>
              <a:buChar char="l"/>
            </a:pPr>
            <a:r>
              <a:rPr lang="en-US" altLang="zh-CN" sz="1200" b="1" i="0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 ultra-high power density</a:t>
            </a:r>
            <a:endParaRPr lang="en-US" altLang="zh-CN" sz="1200" b="1" i="0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pic>
        <p:nvPicPr>
          <p:cNvPr id="15" name="图片 14" descr="循环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61475" y="4674870"/>
            <a:ext cx="911860" cy="91186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8368665" y="6086475"/>
            <a:ext cx="1240790" cy="269240"/>
            <a:chOff x="3858" y="5370"/>
            <a:chExt cx="1954" cy="424"/>
          </a:xfrm>
        </p:grpSpPr>
        <p:sp>
          <p:nvSpPr>
            <p:cNvPr id="22" name="Text 15"/>
            <p:cNvSpPr/>
            <p:nvPr/>
          </p:nvSpPr>
          <p:spPr>
            <a:xfrm>
              <a:off x="4063" y="5415"/>
              <a:ext cx="1201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92D050"/>
                  </a:solidFill>
                  <a:latin typeface="Times New Roman" panose="02020503050405090304" charset="0"/>
                  <a:ea typeface="MiSans" pitchFamily="34" charset="-122"/>
                  <a:cs typeface="MiSans" pitchFamily="34" charset="-120"/>
                </a:rPr>
                <a:t>learn more</a:t>
              </a:r>
              <a:endParaRPr lang="en-US" sz="1200" b="1" dirty="0">
                <a:solidFill>
                  <a:srgbClr val="92D050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4" name="Shape 16"/>
            <p:cNvSpPr/>
            <p:nvPr/>
          </p:nvSpPr>
          <p:spPr>
            <a:xfrm>
              <a:off x="5264" y="5505"/>
              <a:ext cx="293" cy="21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0902" y="72561"/>
                  </a:moveTo>
                  <a:cubicBezTo>
                    <a:pt x="134157" y="69306"/>
                    <a:pt x="134157" y="64018"/>
                    <a:pt x="130902" y="60763"/>
                  </a:cubicBezTo>
                  <a:lnTo>
                    <a:pt x="89230" y="19091"/>
                  </a:lnTo>
                  <a:cubicBezTo>
                    <a:pt x="85974" y="15835"/>
                    <a:pt x="80687" y="15835"/>
                    <a:pt x="77432" y="19091"/>
                  </a:cubicBezTo>
                  <a:cubicBezTo>
                    <a:pt x="74176" y="22347"/>
                    <a:pt x="74176" y="27634"/>
                    <a:pt x="77432" y="30889"/>
                  </a:cubicBezTo>
                  <a:lnTo>
                    <a:pt x="104883" y="58341"/>
                  </a:lnTo>
                  <a:lnTo>
                    <a:pt x="8334" y="58341"/>
                  </a:lnTo>
                  <a:cubicBezTo>
                    <a:pt x="3724" y="58341"/>
                    <a:pt x="0" y="62065"/>
                    <a:pt x="0" y="66675"/>
                  </a:cubicBezTo>
                  <a:cubicBezTo>
                    <a:pt x="0" y="71285"/>
                    <a:pt x="3724" y="75009"/>
                    <a:pt x="8334" y="75009"/>
                  </a:cubicBezTo>
                  <a:lnTo>
                    <a:pt x="104883" y="75009"/>
                  </a:lnTo>
                  <a:lnTo>
                    <a:pt x="77432" y="102461"/>
                  </a:lnTo>
                  <a:cubicBezTo>
                    <a:pt x="74176" y="105716"/>
                    <a:pt x="74176" y="111003"/>
                    <a:pt x="77432" y="114259"/>
                  </a:cubicBezTo>
                  <a:cubicBezTo>
                    <a:pt x="80687" y="117515"/>
                    <a:pt x="85974" y="117515"/>
                    <a:pt x="89230" y="114259"/>
                  </a:cubicBezTo>
                  <a:lnTo>
                    <a:pt x="130902" y="72587"/>
                  </a:lnTo>
                  <a:close/>
                </a:path>
              </a:pathLst>
            </a:custGeom>
            <a:solidFill>
              <a:srgbClr val="92D050"/>
            </a:solidFill>
          </p:spPr>
        </p:sp>
        <p:sp>
          <p:nvSpPr>
            <p:cNvPr id="35" name="圆角矩形 34"/>
            <p:cNvSpPr/>
            <p:nvPr/>
          </p:nvSpPr>
          <p:spPr>
            <a:xfrm>
              <a:off x="3858" y="5370"/>
              <a:ext cx="1954" cy="425"/>
            </a:xfrm>
            <a:prstGeom prst="roundRect">
              <a:avLst/>
            </a:prstGeom>
            <a:noFill/>
            <a:ln w="19050" cmpd="sng">
              <a:solidFill>
                <a:srgbClr val="92D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75BD42"/>
                </a:solidFill>
              </a:endParaRPr>
            </a:p>
          </p:txBody>
        </p:sp>
      </p:grpSp>
      <p:pic>
        <p:nvPicPr>
          <p:cNvPr id="48" name="图片 47"/>
          <p:cNvPicPr>
            <a:picLocks noChangeAspect="1"/>
          </p:cNvPicPr>
          <p:nvPr/>
        </p:nvPicPr>
        <p:blipFill>
          <a:blip r:embed="rId16"/>
          <a:srcRect b="6121"/>
          <a:stretch>
            <a:fillRect/>
          </a:stretch>
        </p:blipFill>
        <p:spPr>
          <a:xfrm>
            <a:off x="386080" y="4164965"/>
            <a:ext cx="962025" cy="90424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7"/>
          <a:srcRect r="16723" b="2348"/>
          <a:stretch>
            <a:fillRect/>
          </a:stretch>
        </p:blipFill>
        <p:spPr>
          <a:xfrm>
            <a:off x="6278880" y="4324350"/>
            <a:ext cx="488950" cy="5734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6391910" y="5610225"/>
            <a:ext cx="524192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algn="ctr">
              <a:buClrTx/>
              <a:buSzTx/>
              <a:buFontTx/>
            </a:pPr>
            <a:r>
              <a:rPr lang="en-US" altLang="zh-CN" sz="1200" b="1" i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Perfectly matches the requirements of grid frequency regulation and fast-response applications in data centers</a:t>
            </a:r>
            <a:endParaRPr lang="en-US" altLang="zh-CN" sz="1200" b="1" i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8458200" y="3438525"/>
            <a:ext cx="7626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92D050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learn more</a:t>
            </a:r>
            <a:endParaRPr lang="en-US" sz="1200" b="1" dirty="0">
              <a:solidFill>
                <a:srgbClr val="92D050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9220835" y="3495675"/>
            <a:ext cx="186055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92D050"/>
          </a:solidFill>
        </p:spPr>
      </p:sp>
      <p:sp>
        <p:nvSpPr>
          <p:cNvPr id="56" name="圆角矩形 55"/>
          <p:cNvSpPr/>
          <p:nvPr/>
        </p:nvSpPr>
        <p:spPr>
          <a:xfrm>
            <a:off x="8328025" y="3409950"/>
            <a:ext cx="1240790" cy="269875"/>
          </a:xfrm>
          <a:prstGeom prst="roundRect">
            <a:avLst/>
          </a:prstGeom>
          <a:noFill/>
          <a:ln w="19050" cmpd="sng">
            <a:solidFill>
              <a:srgbClr val="92D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5BD42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045325" y="1645920"/>
            <a:ext cx="382587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  <a:sym typeface="+mn-ea"/>
              </a:rPr>
              <a:t>—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  <a:sym typeface="+mn-ea"/>
              </a:rPr>
              <a:t>t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  <a:sym typeface="+mn-ea"/>
              </a:rPr>
              <a:t>he next generation of metal-ion batteries</a:t>
            </a:r>
            <a:endParaRPr lang="en-US" altLang="zh-CN" sz="1400" b="1" dirty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506210" y="3105785"/>
            <a:ext cx="544131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200" b="1" i="0">
                <a:solidFill>
                  <a:schemeClr val="accent4">
                    <a:lumMod val="7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Perfect for high-safety and space-constrained environments like data centers</a:t>
            </a:r>
            <a:endParaRPr lang="en-US" altLang="zh-CN" sz="1200" b="1" i="0">
              <a:solidFill>
                <a:schemeClr val="accent4">
                  <a:lumMod val="7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851390" y="2284730"/>
            <a:ext cx="18923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00000"/>
              </a:lnSpc>
              <a:spcBef>
                <a:spcPts val="2400"/>
              </a:spcBef>
              <a:buClrTx/>
              <a:buSzPct val="70000"/>
              <a:buFont typeface="Wingdings" panose="05000000000000000000" charset="0"/>
              <a:buChar char="l"/>
            </a:pPr>
            <a:r>
              <a:rPr lang="en-US" altLang="zh-CN" sz="1200" b="1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  <a:sym typeface="+mn-ea"/>
              </a:rPr>
              <a:t>Potential for Extremely High Energy Density</a:t>
            </a:r>
            <a:endParaRPr lang="en-US" altLang="zh-CN" sz="1200" b="1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556500" y="2284730"/>
            <a:ext cx="1539240" cy="533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charset="0"/>
              <a:buChar char="l"/>
            </a:pPr>
            <a:r>
              <a:rPr lang="en-US" altLang="zh-CN" sz="1200" b="1">
                <a:solidFill>
                  <a:srgbClr val="00B050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  <a:sym typeface="+mn-ea"/>
              </a:rPr>
              <a:t>Superior Safety</a:t>
            </a:r>
            <a:endParaRPr lang="en-US" altLang="zh-CN" sz="1200" b="1">
              <a:solidFill>
                <a:srgbClr val="00B050"/>
              </a:solidFill>
              <a:latin typeface="Times New Roman" panose="02020503050405090304" charset="0"/>
              <a:ea typeface="quote-cjk-patch"/>
              <a:cs typeface="Times New Roman" panose="02020503050405090304" charset="0"/>
              <a:sym typeface="+mn-ea"/>
            </a:endParaRPr>
          </a:p>
          <a:p>
            <a:pPr marL="171450" indent="-17145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charset="0"/>
              <a:buChar char="l"/>
            </a:pPr>
            <a:r>
              <a:rPr lang="en-US" altLang="zh-CN" sz="1200" b="1">
                <a:solidFill>
                  <a:srgbClr val="00B05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Reasonable Cost</a:t>
            </a:r>
            <a:endParaRPr lang="en-US" altLang="zh-CN" sz="1200" b="1">
              <a:solidFill>
                <a:srgbClr val="00B05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8"/>
          <a:srcRect l="4040" t="31950" r="71957" b="40332"/>
          <a:stretch>
            <a:fillRect/>
          </a:stretch>
        </p:blipFill>
        <p:spPr>
          <a:xfrm>
            <a:off x="6868160" y="2180590"/>
            <a:ext cx="688340" cy="79502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8"/>
          <a:srcRect l="35581" t="32735" r="33255" b="40038"/>
          <a:stretch>
            <a:fillRect/>
          </a:stretch>
        </p:blipFill>
        <p:spPr>
          <a:xfrm>
            <a:off x="9026525" y="2125980"/>
            <a:ext cx="972185" cy="849630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19"/>
          <a:srcRect l="10253" t="11111" r="10486" b="11880"/>
          <a:stretch>
            <a:fillRect/>
          </a:stretch>
        </p:blipFill>
        <p:spPr>
          <a:xfrm>
            <a:off x="6196330" y="1343660"/>
            <a:ext cx="958850" cy="975995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3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Text 1"/>
          <p:cNvSpPr/>
          <p:nvPr/>
        </p:nvSpPr>
        <p:spPr>
          <a:xfrm>
            <a:off x="609600" y="381000"/>
            <a:ext cx="3448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sz="18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Why StorageLink</a:t>
            </a:r>
            <a:endParaRPr lang="en-US" sz="18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200" b="1">
                <a:solidFill>
                  <a:schemeClr val="bg1">
                    <a:lumMod val="65000"/>
                  </a:schemeClr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</a:rPr>
              <a:t>Four Key Advantages for More Efficient Collaboration</a:t>
            </a:r>
            <a:endParaRPr lang="en-US" altLang="zh-CN" sz="1200" b="1">
              <a:solidFill>
                <a:schemeClr val="bg1">
                  <a:lumMod val="65000"/>
                </a:schemeClr>
              </a:solidFill>
              <a:latin typeface="Times New Roman" panose="02020503050405090304" charset="0"/>
              <a:ea typeface="quote-cjk-patch"/>
              <a:cs typeface="Times New Roman" panose="0202050305040509030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385763" y="12620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81025" y="1457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9" name="Shape 5"/>
          <p:cNvSpPr/>
          <p:nvPr/>
        </p:nvSpPr>
        <p:spPr>
          <a:xfrm>
            <a:off x="733425" y="160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7"/>
          <p:cNvSpPr/>
          <p:nvPr/>
        </p:nvSpPr>
        <p:spPr>
          <a:xfrm>
            <a:off x="1266825" y="1571625"/>
            <a:ext cx="241871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5E8B7E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Multi-technology Coverage</a:t>
            </a:r>
            <a:endParaRPr lang="en-US" sz="1400" b="1" dirty="0">
              <a:solidFill>
                <a:srgbClr val="5E8B7E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81025" y="2105025"/>
            <a:ext cx="529590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Beyond Lithium.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We are also deeply engaged in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Sodium-Ion, Solid-State, Redox  Flow Batteries, and Supercapacitors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, offering objective and diverse technological options. We match the optimal energy storage technology roadmap based on specific customer scenario requirements</a:t>
            </a:r>
            <a:endParaRPr lang="en-US" altLang="zh-CN" sz="1200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86080" y="3305175"/>
            <a:ext cx="134493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Sodium-ion Batter</a:t>
            </a:r>
            <a:r>
              <a:rPr lang="en-US" altLang="zh-CN" sz="1000" b="1" dirty="0"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ies</a:t>
            </a:r>
            <a:endParaRPr lang="en-US" altLang="zh-CN" sz="1000" b="1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20000"/>
              </a:lnSpc>
            </a:pPr>
            <a:endParaRPr lang="en-US" altLang="zh-CN" sz="1000" b="1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  <a:p>
            <a:endParaRPr lang="en-US" altLang="zh-CN" sz="1000" b="1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788795" y="3305175"/>
            <a:ext cx="1326515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r>
              <a:rPr lang="en-US" altLang="zh-CN" sz="1000" b="1" dirty="0"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Solid-State </a:t>
            </a:r>
            <a:r>
              <a:rPr lang="en-US" altLang="zh-CN" sz="1000" b="1" dirty="0"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Batteries</a:t>
            </a:r>
            <a:endParaRPr lang="en-US" altLang="zh-CN" sz="1000" b="1" dirty="0">
              <a:latin typeface="Times New Roman" panose="02020503050405090304" charset="0"/>
              <a:ea typeface="MiSans" pitchFamily="34" charset="-122"/>
              <a:cs typeface="MiSans" pitchFamily="34" charset="-120"/>
              <a:sym typeface="+mn-ea"/>
            </a:endParaRPr>
          </a:p>
          <a:p>
            <a:endParaRPr lang="en-US" altLang="zh-CN" sz="1000" b="1" dirty="0">
              <a:latin typeface="Times New Roman" panose="0202050305040509030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187700" y="3305175"/>
            <a:ext cx="143637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r>
              <a:rPr lang="en-US" altLang="zh-CN" sz="1000" b="1" dirty="0"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Redox  Flow Batteries</a:t>
            </a:r>
            <a:endParaRPr lang="en-US" altLang="zh-CN" sz="1000" b="1" dirty="0">
              <a:latin typeface="Times New Roman" panose="0202050305040509030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715510" y="3305175"/>
            <a:ext cx="118999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pPr algn="ctr"/>
            <a:r>
              <a:rPr lang="en-US" altLang="zh-CN" sz="1000" b="1" dirty="0"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Supercapacitors</a:t>
            </a:r>
            <a:endParaRPr lang="en-US" altLang="zh-CN" sz="1000" b="1" dirty="0">
              <a:latin typeface="Times New Roman" panose="0202050305040509030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196013" y="12620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91275" y="1457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6529388" y="16097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1"/>
          <p:cNvSpPr/>
          <p:nvPr/>
        </p:nvSpPr>
        <p:spPr>
          <a:xfrm>
            <a:off x="7038975" y="1609725"/>
            <a:ext cx="40506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4A6C8C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Direct Access to China's Supply Chain</a:t>
            </a:r>
            <a:endParaRPr lang="en-US" sz="1400" b="1" dirty="0">
              <a:solidFill>
                <a:srgbClr val="4A6C8C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353175" y="2143125"/>
            <a:ext cx="529590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We collaborate closely with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China's leading battery companies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 across different technologies, enabling rapid access to high-quality supply chains and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the latest innovations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 to ensure our products remain competitive.</a:t>
            </a:r>
            <a:endParaRPr lang="en-US" altLang="zh-CN" sz="1200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391275" y="3305175"/>
            <a:ext cx="238887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p>
            <a:r>
              <a:rPr lang="en-US" altLang="zh-CN" sz="1000" b="1">
                <a:solidFill>
                  <a:srgbClr val="0F1115"/>
                </a:solidFill>
                <a:latin typeface="Times New Roman" panose="02020503050405090304" charset="0"/>
                <a:ea typeface="quote-cjk-patch"/>
                <a:cs typeface="Times New Roman" panose="02020503050405090304" charset="0"/>
                <a:sym typeface="+mn-ea"/>
              </a:rPr>
              <a:t>Partnerships with Top-Tier Companies</a:t>
            </a:r>
            <a:endParaRPr lang="en-US" altLang="zh-CN" sz="1000" b="1">
              <a:solidFill>
                <a:srgbClr val="0F1115"/>
              </a:solidFill>
              <a:latin typeface="Times New Roman" panose="02020503050405090304" charset="0"/>
              <a:ea typeface="quote-cjk-patch"/>
              <a:cs typeface="Times New Roman" panose="02020503050405090304" charset="0"/>
              <a:sym typeface="+mn-ea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9175115" y="3305175"/>
            <a:ext cx="2040255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p>
            <a:pPr algn="ctr"/>
            <a:r>
              <a:rPr lang="en-US" altLang="zh-CN" sz="1000" b="1">
                <a:latin typeface="Times New Roman" panose="02020503050405090304" charset="0"/>
                <a:cs typeface="Times New Roman" panose="02020503050405090304" charset="0"/>
              </a:rPr>
              <a:t>Access to Latest Technologies</a:t>
            </a:r>
            <a:endParaRPr lang="en-US" altLang="zh-CN" sz="1000" b="1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385763" y="39671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81025" y="4162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35" name="Shape 31"/>
          <p:cNvSpPr/>
          <p:nvPr/>
        </p:nvSpPr>
        <p:spPr>
          <a:xfrm>
            <a:off x="733425" y="4314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89" y="21431"/>
                </a:moveTo>
                <a:cubicBezTo>
                  <a:pt x="165646" y="21476"/>
                  <a:pt x="207169" y="63044"/>
                  <a:pt x="207169" y="114300"/>
                </a:cubicBezTo>
                <a:cubicBezTo>
                  <a:pt x="207169" y="124167"/>
                  <a:pt x="205651" y="133677"/>
                  <a:pt x="202793" y="142607"/>
                </a:cubicBezTo>
                <a:cubicBezTo>
                  <a:pt x="201900" y="142786"/>
                  <a:pt x="200963" y="142875"/>
                  <a:pt x="200025" y="142875"/>
                </a:cubicBezTo>
                <a:lnTo>
                  <a:pt x="198819" y="142875"/>
                </a:lnTo>
                <a:cubicBezTo>
                  <a:pt x="195024" y="142875"/>
                  <a:pt x="191408" y="141357"/>
                  <a:pt x="188729" y="138678"/>
                </a:cubicBezTo>
                <a:lnTo>
                  <a:pt x="175647" y="125596"/>
                </a:lnTo>
                <a:cubicBezTo>
                  <a:pt x="172968" y="122917"/>
                  <a:pt x="171450" y="119301"/>
                  <a:pt x="171450" y="115506"/>
                </a:cubicBezTo>
                <a:lnTo>
                  <a:pt x="171450" y="92869"/>
                </a:lnTo>
                <a:cubicBezTo>
                  <a:pt x="171450" y="88940"/>
                  <a:pt x="174665" y="85725"/>
                  <a:pt x="178594" y="85725"/>
                </a:cubicBezTo>
                <a:cubicBezTo>
                  <a:pt x="182523" y="85725"/>
                  <a:pt x="185738" y="82510"/>
                  <a:pt x="185738" y="78581"/>
                </a:cubicBezTo>
                <a:cubicBezTo>
                  <a:pt x="185738" y="74652"/>
                  <a:pt x="182523" y="71438"/>
                  <a:pt x="178594" y="71438"/>
                </a:cubicBezTo>
                <a:lnTo>
                  <a:pt x="167878" y="71438"/>
                </a:lnTo>
                <a:cubicBezTo>
                  <a:pt x="161940" y="71438"/>
                  <a:pt x="157163" y="76215"/>
                  <a:pt x="157163" y="82153"/>
                </a:cubicBezTo>
                <a:cubicBezTo>
                  <a:pt x="157163" y="88091"/>
                  <a:pt x="152385" y="92869"/>
                  <a:pt x="146447" y="92869"/>
                </a:cubicBezTo>
                <a:lnTo>
                  <a:pt x="121444" y="92869"/>
                </a:lnTo>
                <a:cubicBezTo>
                  <a:pt x="117515" y="92869"/>
                  <a:pt x="114300" y="96083"/>
                  <a:pt x="114300" y="100013"/>
                </a:cubicBezTo>
                <a:cubicBezTo>
                  <a:pt x="114300" y="103942"/>
                  <a:pt x="111085" y="107156"/>
                  <a:pt x="107156" y="107156"/>
                </a:cubicBezTo>
                <a:lnTo>
                  <a:pt x="95816" y="107156"/>
                </a:lnTo>
                <a:cubicBezTo>
                  <a:pt x="90234" y="107156"/>
                  <a:pt x="85725" y="102647"/>
                  <a:pt x="85725" y="97066"/>
                </a:cubicBezTo>
                <a:cubicBezTo>
                  <a:pt x="85725" y="94387"/>
                  <a:pt x="86797" y="91797"/>
                  <a:pt x="88672" y="89922"/>
                </a:cubicBezTo>
                <a:lnTo>
                  <a:pt x="119970" y="58623"/>
                </a:lnTo>
                <a:cubicBezTo>
                  <a:pt x="120908" y="57686"/>
                  <a:pt x="121444" y="56391"/>
                  <a:pt x="121444" y="55052"/>
                </a:cubicBezTo>
                <a:cubicBezTo>
                  <a:pt x="121444" y="52283"/>
                  <a:pt x="119167" y="50006"/>
                  <a:pt x="116398" y="50006"/>
                </a:cubicBezTo>
                <a:lnTo>
                  <a:pt x="110103" y="50006"/>
                </a:lnTo>
                <a:cubicBezTo>
                  <a:pt x="104522" y="50006"/>
                  <a:pt x="100013" y="45497"/>
                  <a:pt x="100013" y="39916"/>
                </a:cubicBezTo>
                <a:cubicBezTo>
                  <a:pt x="100013" y="37237"/>
                  <a:pt x="101084" y="34647"/>
                  <a:pt x="102959" y="32772"/>
                </a:cubicBezTo>
                <a:lnTo>
                  <a:pt x="113273" y="22458"/>
                </a:lnTo>
                <a:cubicBezTo>
                  <a:pt x="113630" y="22101"/>
                  <a:pt x="113987" y="21788"/>
                  <a:pt x="114389" y="21476"/>
                </a:cubicBezTo>
                <a:close/>
                <a:moveTo>
                  <a:pt x="195739" y="158993"/>
                </a:moveTo>
                <a:cubicBezTo>
                  <a:pt x="181094" y="185604"/>
                  <a:pt x="153814" y="204267"/>
                  <a:pt x="121980" y="206856"/>
                </a:cubicBezTo>
                <a:cubicBezTo>
                  <a:pt x="121667" y="205829"/>
                  <a:pt x="121488" y="204713"/>
                  <a:pt x="121488" y="203597"/>
                </a:cubicBezTo>
                <a:cubicBezTo>
                  <a:pt x="121488" y="197659"/>
                  <a:pt x="116711" y="192881"/>
                  <a:pt x="110773" y="192881"/>
                </a:cubicBezTo>
                <a:lnTo>
                  <a:pt x="98852" y="192881"/>
                </a:lnTo>
                <a:cubicBezTo>
                  <a:pt x="95057" y="192881"/>
                  <a:pt x="91440" y="191363"/>
                  <a:pt x="88761" y="188684"/>
                </a:cubicBezTo>
                <a:lnTo>
                  <a:pt x="75679" y="175602"/>
                </a:lnTo>
                <a:cubicBezTo>
                  <a:pt x="73000" y="172923"/>
                  <a:pt x="71482" y="169307"/>
                  <a:pt x="71482" y="165512"/>
                </a:cubicBezTo>
                <a:lnTo>
                  <a:pt x="71482" y="135731"/>
                </a:lnTo>
                <a:cubicBezTo>
                  <a:pt x="71482" y="127828"/>
                  <a:pt x="77867" y="121444"/>
                  <a:pt x="85770" y="121444"/>
                </a:cubicBezTo>
                <a:lnTo>
                  <a:pt x="129838" y="121444"/>
                </a:lnTo>
                <a:cubicBezTo>
                  <a:pt x="133633" y="121444"/>
                  <a:pt x="137249" y="122962"/>
                  <a:pt x="139928" y="125641"/>
                </a:cubicBezTo>
                <a:lnTo>
                  <a:pt x="153010" y="138723"/>
                </a:lnTo>
                <a:cubicBezTo>
                  <a:pt x="155689" y="141402"/>
                  <a:pt x="159306" y="142920"/>
                  <a:pt x="163101" y="142920"/>
                </a:cubicBezTo>
                <a:lnTo>
                  <a:pt x="165556" y="142920"/>
                </a:lnTo>
                <a:cubicBezTo>
                  <a:pt x="169352" y="142920"/>
                  <a:pt x="172968" y="144438"/>
                  <a:pt x="175647" y="147117"/>
                </a:cubicBezTo>
                <a:lnTo>
                  <a:pt x="182791" y="154260"/>
                </a:lnTo>
                <a:cubicBezTo>
                  <a:pt x="184666" y="156136"/>
                  <a:pt x="187256" y="157207"/>
                  <a:pt x="189934" y="157207"/>
                </a:cubicBezTo>
                <a:cubicBezTo>
                  <a:pt x="192078" y="157207"/>
                  <a:pt x="194087" y="157877"/>
                  <a:pt x="195739" y="159038"/>
                </a:cubicBezTo>
                <a:close/>
                <a:moveTo>
                  <a:pt x="114300" y="228600"/>
                </a:moveTo>
                <a:lnTo>
                  <a:pt x="125998" y="228020"/>
                </a:lnTo>
                <a:cubicBezTo>
                  <a:pt x="122158" y="228421"/>
                  <a:pt x="118274" y="228600"/>
                  <a:pt x="114300" y="228600"/>
                </a:cubicBezTo>
                <a:close/>
                <a:moveTo>
                  <a:pt x="125998" y="228020"/>
                </a:moveTo>
                <a:cubicBezTo>
                  <a:pt x="183639" y="222171"/>
                  <a:pt x="228600" y="173504"/>
                  <a:pt x="228600" y="114300"/>
                </a:cubicBezTo>
                <a:cubicBezTo>
                  <a:pt x="228600" y="51167"/>
                  <a:pt x="177433" y="0"/>
                  <a:pt x="114300" y="0"/>
                </a:cubicBezTo>
                <a:lnTo>
                  <a:pt x="114300" y="0"/>
                </a:lnTo>
                <a:cubicBezTo>
                  <a:pt x="51167" y="0"/>
                  <a:pt x="0" y="51167"/>
                  <a:pt x="0" y="114300"/>
                </a:cubicBezTo>
                <a:cubicBezTo>
                  <a:pt x="0" y="171227"/>
                  <a:pt x="41612" y="218465"/>
                  <a:pt x="96128" y="227171"/>
                </a:cubicBezTo>
                <a:cubicBezTo>
                  <a:pt x="102022" y="228109"/>
                  <a:pt x="108094" y="228600"/>
                  <a:pt x="114300" y="228600"/>
                </a:cubicBezTo>
                <a:close/>
                <a:moveTo>
                  <a:pt x="83627" y="55052"/>
                </a:moveTo>
                <a:lnTo>
                  <a:pt x="69339" y="69339"/>
                </a:lnTo>
                <a:cubicBezTo>
                  <a:pt x="66571" y="72107"/>
                  <a:pt x="62017" y="72107"/>
                  <a:pt x="59248" y="69339"/>
                </a:cubicBezTo>
                <a:cubicBezTo>
                  <a:pt x="56480" y="66571"/>
                  <a:pt x="56480" y="62017"/>
                  <a:pt x="59248" y="59248"/>
                </a:cubicBezTo>
                <a:lnTo>
                  <a:pt x="73536" y="44961"/>
                </a:lnTo>
                <a:cubicBezTo>
                  <a:pt x="76304" y="42193"/>
                  <a:pt x="80858" y="42193"/>
                  <a:pt x="83627" y="44961"/>
                </a:cubicBezTo>
                <a:cubicBezTo>
                  <a:pt x="86395" y="47729"/>
                  <a:pt x="86395" y="52283"/>
                  <a:pt x="83627" y="5505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Text 33"/>
          <p:cNvSpPr/>
          <p:nvPr/>
        </p:nvSpPr>
        <p:spPr>
          <a:xfrm>
            <a:off x="1266825" y="4314825"/>
            <a:ext cx="22561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8D99AE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Local European Presence</a:t>
            </a:r>
            <a:endParaRPr lang="en-US" sz="1400" b="1" dirty="0">
              <a:solidFill>
                <a:srgbClr val="8D99AE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581025" y="4848225"/>
            <a:ext cx="529590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Our German partner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brings deep expertise in the European energy storage industry, with years of experience and a comprehensive understanding of the market, technology, and local language. This ensures seamless communication and enables us to provide dedicated local service and support to our customers.</a:t>
            </a:r>
            <a:endParaRPr lang="en-US" altLang="zh-CN" sz="1200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962025" y="6016625"/>
            <a:ext cx="1911985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  <p:txBody>
          <a:bodyPr/>
          <a:p>
            <a:pPr algn="ctr"/>
            <a:r>
              <a:rPr lang="en-US" altLang="zh-CN" sz="1200" b="1">
                <a:latin typeface="Times New Roman" panose="02020503050405090304" charset="0"/>
                <a:cs typeface="Times New Roman" panose="02020503050405090304" charset="0"/>
              </a:rPr>
              <a:t>German Local Team</a:t>
            </a:r>
            <a:endParaRPr lang="en-US" altLang="zh-CN" sz="1200" b="1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3463925" y="6016625"/>
            <a:ext cx="2143125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  <p:txBody>
          <a:bodyPr/>
          <a:p>
            <a:pPr algn="ctr"/>
            <a:r>
              <a:rPr lang="en-US" altLang="zh-CN" sz="1200" b="1">
                <a:latin typeface="Times New Roman" panose="02020503050405090304" charset="0"/>
                <a:cs typeface="Times New Roman" panose="02020503050405090304" charset="0"/>
              </a:rPr>
              <a:t>Localized Service</a:t>
            </a:r>
            <a:endParaRPr lang="en-US" altLang="zh-CN" sz="1200" b="1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6196013" y="3967163"/>
            <a:ext cx="5610225" cy="2505075"/>
          </a:xfrm>
          <a:custGeom>
            <a:avLst/>
            <a:gdLst/>
            <a:ahLst/>
            <a:cxnLst/>
            <a:rect l="l" t="t" r="r" b="b"/>
            <a:pathLst>
              <a:path w="5610225" h="25050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2390768"/>
                </a:lnTo>
                <a:cubicBezTo>
                  <a:pt x="5610225" y="2453856"/>
                  <a:pt x="5559006" y="2505075"/>
                  <a:pt x="549591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391275" y="4162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7" name="Shape 43"/>
          <p:cNvSpPr/>
          <p:nvPr/>
        </p:nvSpPr>
        <p:spPr>
          <a:xfrm>
            <a:off x="6515100" y="4314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Text 45"/>
          <p:cNvSpPr/>
          <p:nvPr/>
        </p:nvSpPr>
        <p:spPr>
          <a:xfrm>
            <a:off x="7077075" y="4314825"/>
            <a:ext cx="25469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5E8B7E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Application-driven Approach</a:t>
            </a:r>
            <a:endParaRPr lang="en-US" sz="1400" b="1" dirty="0">
              <a:solidFill>
                <a:srgbClr val="5E8B7E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6391275" y="4848225"/>
            <a:ext cx="529590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Our core team members have participated in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 large-scale grid-side energy storage projects in China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</a:rPr>
              <a:t>. This experience enables us to start from real-world application needs and deliver practical, feasible technical solutions to our clients.</a:t>
            </a:r>
            <a:endParaRPr lang="en-US" altLang="zh-CN" sz="1200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6391275" y="6010275"/>
            <a:ext cx="235077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pPr algn="ctr"/>
            <a:r>
              <a:rPr lang="en-US" altLang="zh-CN" sz="1200" b="1">
                <a:latin typeface="Times New Roman" panose="02020503050405090304" charset="0"/>
                <a:cs typeface="Times New Roman" panose="02020503050405090304" charset="0"/>
              </a:rPr>
              <a:t>Grid Project Expertise</a:t>
            </a:r>
            <a:endParaRPr lang="en-US" altLang="zh-CN" sz="1200" b="1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8928735" y="6010275"/>
            <a:ext cx="2286635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  <p:txBody>
          <a:bodyPr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503050405090304" charset="0"/>
                <a:ea typeface="MiSans" pitchFamily="34" charset="-122"/>
                <a:cs typeface="MiSans" pitchFamily="34" charset="-120"/>
                <a:sym typeface="+mn-ea"/>
              </a:rPr>
              <a:t>Scenario-Based Solutions</a:t>
            </a:r>
            <a:endParaRPr lang="en-US" altLang="zh-CN" sz="1200" b="1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  <a:p>
            <a:pPr algn="ctr"/>
            <a:endParaRPr lang="en-US" altLang="zh-CN" sz="1200" b="1" dirty="0">
              <a:solidFill>
                <a:schemeClr val="tx1"/>
              </a:solidFill>
              <a:latin typeface="Times New Roman" panose="0202050305040509030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7" name="Shape 0"/>
          <p:cNvSpPr/>
          <p:nvPr/>
        </p:nvSpPr>
        <p:spPr>
          <a:xfrm>
            <a:off x="425450" y="381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3"/>
          <p:cNvSpPr/>
          <p:nvPr/>
        </p:nvSpPr>
        <p:spPr>
          <a:xfrm>
            <a:off x="3864471" y="1485900"/>
            <a:ext cx="4467225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Partner with</a:t>
            </a:r>
            <a:endParaRPr lang="en-US" sz="45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algn="ctr">
              <a:lnSpc>
                <a:spcPct val="100000"/>
              </a:lnSpc>
            </a:pPr>
            <a:r>
              <a:rPr lang="en-US" sz="45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  <a:sym typeface="+mn-ea"/>
              </a:rPr>
              <a:t>StorageLink</a:t>
            </a:r>
            <a:endParaRPr lang="en-US" sz="45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27680" y="3143250"/>
            <a:ext cx="686689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00B050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Bridging Advanced Energy Storage to 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the World</a:t>
            </a:r>
            <a:endParaRPr lang="en-US" altLang="zh-CN" sz="1800" b="1" dirty="0">
              <a:solidFill>
                <a:srgbClr val="00B050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976664" y="442913"/>
            <a:ext cx="2238375" cy="504825"/>
          </a:xfrm>
          <a:custGeom>
            <a:avLst/>
            <a:gdLst/>
            <a:ahLst/>
            <a:cxnLst/>
            <a:rect l="l" t="t" r="r" b="b"/>
            <a:pathLst>
              <a:path w="2238375" h="504825">
                <a:moveTo>
                  <a:pt x="76198" y="0"/>
                </a:moveTo>
                <a:lnTo>
                  <a:pt x="2162177" y="0"/>
                </a:lnTo>
                <a:cubicBezTo>
                  <a:pt x="2204260" y="0"/>
                  <a:pt x="2238375" y="34115"/>
                  <a:pt x="2238375" y="76198"/>
                </a:cubicBezTo>
                <a:lnTo>
                  <a:pt x="2238375" y="428627"/>
                </a:lnTo>
                <a:cubicBezTo>
                  <a:pt x="2238375" y="470710"/>
                  <a:pt x="2204260" y="504825"/>
                  <a:pt x="21621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8" name="Text 2"/>
          <p:cNvSpPr/>
          <p:nvPr/>
        </p:nvSpPr>
        <p:spPr>
          <a:xfrm>
            <a:off x="5166995" y="581025"/>
            <a:ext cx="1987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kern="0" spc="135" dirty="0">
                <a:solidFill>
                  <a:schemeClr val="bg1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PARTNER WITH US</a:t>
            </a:r>
            <a:endParaRPr lang="en-US" sz="1400" b="1" kern="0" spc="135" dirty="0">
              <a:solidFill>
                <a:schemeClr val="bg1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10" name="Shape 17"/>
          <p:cNvSpPr/>
          <p:nvPr>
            <p:custDataLst>
              <p:tags r:id="rId1"/>
            </p:custDataLst>
          </p:nvPr>
        </p:nvSpPr>
        <p:spPr>
          <a:xfrm>
            <a:off x="2409825" y="4679315"/>
            <a:ext cx="2266950" cy="662940"/>
          </a:xfrm>
          <a:custGeom>
            <a:avLst/>
            <a:gdLst/>
            <a:ahLst/>
            <a:cxnLst/>
            <a:rect l="l" t="t" r="r" b="b"/>
            <a:pathLst>
              <a:path w="2266950" h="847725">
                <a:moveTo>
                  <a:pt x="114299" y="0"/>
                </a:moveTo>
                <a:lnTo>
                  <a:pt x="2152651" y="0"/>
                </a:lnTo>
                <a:cubicBezTo>
                  <a:pt x="2215777" y="0"/>
                  <a:pt x="2266950" y="51173"/>
                  <a:pt x="2266950" y="114299"/>
                </a:cubicBezTo>
                <a:lnTo>
                  <a:pt x="2266950" y="733426"/>
                </a:lnTo>
                <a:cubicBezTo>
                  <a:pt x="2266950" y="796552"/>
                  <a:pt x="2215777" y="847725"/>
                  <a:pt x="2152651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12" name="Text 19"/>
          <p:cNvSpPr/>
          <p:nvPr>
            <p:custDataLst>
              <p:tags r:id="rId2"/>
            </p:custDataLst>
          </p:nvPr>
        </p:nvSpPr>
        <p:spPr>
          <a:xfrm>
            <a:off x="2559050" y="4823460"/>
            <a:ext cx="1968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Technical Consulting</a:t>
            </a:r>
            <a:endParaRPr lang="en-US" sz="1600" b="1" dirty="0">
              <a:solidFill>
                <a:srgbClr val="EDF2F4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23" name="Shape 20"/>
          <p:cNvSpPr/>
          <p:nvPr>
            <p:custDataLst>
              <p:tags r:id="rId3"/>
            </p:custDataLst>
          </p:nvPr>
        </p:nvSpPr>
        <p:spPr>
          <a:xfrm>
            <a:off x="4910455" y="4678680"/>
            <a:ext cx="2114550" cy="663575"/>
          </a:xfrm>
          <a:custGeom>
            <a:avLst/>
            <a:gdLst/>
            <a:ahLst/>
            <a:cxnLst/>
            <a:rect l="l" t="t" r="r" b="b"/>
            <a:pathLst>
              <a:path w="2114550" h="847725">
                <a:moveTo>
                  <a:pt x="114299" y="0"/>
                </a:moveTo>
                <a:lnTo>
                  <a:pt x="2000251" y="0"/>
                </a:lnTo>
                <a:cubicBezTo>
                  <a:pt x="2063377" y="0"/>
                  <a:pt x="2114550" y="51173"/>
                  <a:pt x="2114550" y="114299"/>
                </a:cubicBezTo>
                <a:lnTo>
                  <a:pt x="2114550" y="733426"/>
                </a:lnTo>
                <a:cubicBezTo>
                  <a:pt x="2114550" y="796552"/>
                  <a:pt x="2063377" y="847725"/>
                  <a:pt x="2000251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14" name="Text 22"/>
          <p:cNvSpPr/>
          <p:nvPr>
            <p:custDataLst>
              <p:tags r:id="rId4"/>
            </p:custDataLst>
          </p:nvPr>
        </p:nvSpPr>
        <p:spPr>
          <a:xfrm>
            <a:off x="5140960" y="4823460"/>
            <a:ext cx="180911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Market Connection</a:t>
            </a:r>
            <a:endParaRPr lang="en-US" sz="1600" b="1" dirty="0">
              <a:solidFill>
                <a:srgbClr val="EDF2F4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  <p:sp>
        <p:nvSpPr>
          <p:cNvPr id="26" name="Shape 23"/>
          <p:cNvSpPr/>
          <p:nvPr>
            <p:custDataLst>
              <p:tags r:id="rId5"/>
            </p:custDataLst>
          </p:nvPr>
        </p:nvSpPr>
        <p:spPr>
          <a:xfrm>
            <a:off x="7265035" y="4678680"/>
            <a:ext cx="2238375" cy="663575"/>
          </a:xfrm>
          <a:custGeom>
            <a:avLst/>
            <a:gdLst/>
            <a:ahLst/>
            <a:cxnLst/>
            <a:rect l="l" t="t" r="r" b="b"/>
            <a:pathLst>
              <a:path w="2238375" h="847725">
                <a:moveTo>
                  <a:pt x="114299" y="0"/>
                </a:moveTo>
                <a:lnTo>
                  <a:pt x="2124076" y="0"/>
                </a:lnTo>
                <a:cubicBezTo>
                  <a:pt x="2187202" y="0"/>
                  <a:pt x="2238375" y="51173"/>
                  <a:pt x="2238375" y="114299"/>
                </a:cubicBezTo>
                <a:lnTo>
                  <a:pt x="2238375" y="733426"/>
                </a:lnTo>
                <a:cubicBezTo>
                  <a:pt x="2238375" y="796552"/>
                  <a:pt x="2187202" y="847725"/>
                  <a:pt x="21240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16" name="Text 25"/>
          <p:cNvSpPr/>
          <p:nvPr>
            <p:custDataLst>
              <p:tags r:id="rId6"/>
            </p:custDataLst>
          </p:nvPr>
        </p:nvSpPr>
        <p:spPr>
          <a:xfrm>
            <a:off x="7451725" y="4823460"/>
            <a:ext cx="19704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" panose="02020503050405090304" charset="0"/>
                <a:ea typeface="MiSans" pitchFamily="34" charset="-122"/>
                <a:cs typeface="Times New Roman" panose="02020503050405090304" charset="0"/>
              </a:rPr>
              <a:t>Product Introduction</a:t>
            </a:r>
            <a:endParaRPr lang="en-US" sz="1600" b="1" dirty="0">
              <a:solidFill>
                <a:schemeClr val="bg1"/>
              </a:solidFill>
              <a:latin typeface="Times New Roman" panose="02020503050405090304" charset="0"/>
              <a:ea typeface="MiSans" pitchFamily="34" charset="-122"/>
              <a:cs typeface="Times New Roman" panose="02020503050405090304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00104],&quot;65&quot;:[20205081]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3636623,50018083,50005124,21538978],&quot;65&quot;:[20205081]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69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70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71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72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73.xml><?xml version="1.0" encoding="utf-8"?>
<p:tagLst xmlns:p="http://schemas.openxmlformats.org/presentationml/2006/main">
  <p:tag name="KSO_WM_DIAGRAM_VIRTUALLY_FRAME" val="{&quot;height&quot;:136.72503937007878,&quot;left&quot;:189.75,&quot;top&quot;:368.4,&quot;width&quot;:569.3906299212598}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resource_record_key" val="{&quot;10&quot;:[3636623,50018083,50005124,21538978],&quot;29&quot;:[5000010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3473</Words>
  <Application>WPS 表格</Application>
  <PresentationFormat>宽屏</PresentationFormat>
  <Paragraphs>189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Times New Roman</vt:lpstr>
      <vt:lpstr>MiSans</vt:lpstr>
      <vt:lpstr>苹方-简</vt:lpstr>
      <vt:lpstr>微软雅黑</vt:lpstr>
      <vt:lpstr>汉仪旗黑</vt:lpstr>
      <vt:lpstr>Alimama ShuHeiTi</vt:lpstr>
      <vt:lpstr>quote-cjk-patch</vt:lpstr>
      <vt:lpstr>MiSans</vt:lpstr>
      <vt:lpstr>宋体</vt:lpstr>
      <vt:lpstr>Arial Unicode MS</vt:lpstr>
      <vt:lpstr>Calibri</vt:lpstr>
      <vt:lpstr>Helvetica Neue</vt:lpstr>
      <vt:lpstr>汉仪书宋二KW</vt:lpstr>
      <vt:lpstr>等线</vt:lpstr>
      <vt:lpstr>汉仪中等线KW</vt:lpstr>
      <vt:lpstr>Thonburi</vt:lpstr>
      <vt:lpstr>Alimama ShuHeiTi</vt:lpstr>
      <vt:lpstr>MiSans</vt:lpstr>
      <vt:lpstr>quote-cjk-patch</vt:lpstr>
      <vt:lpstr>微软雅黑</vt:lpstr>
      <vt:lpstr>宋体-简</vt:lpstr>
      <vt:lpstr>+mn-eaMiSans</vt:lpstr>
      <vt:lpstr>+mn-ltTimes New Roman</vt:lpstr>
      <vt:lpstr>思源黑体 CN Light</vt:lpstr>
      <vt:lpstr>+mn-ea微软雅黑</vt:lpstr>
      <vt:lpstr>+mn-ltArial</vt:lpstr>
      <vt:lpstr>汉仪中黑KW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woai</cp:lastModifiedBy>
  <cp:revision>169</cp:revision>
  <dcterms:created xsi:type="dcterms:W3CDTF">2026-03-02T13:26:24Z</dcterms:created>
  <dcterms:modified xsi:type="dcterms:W3CDTF">2026-03-02T13:26:24Z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2052-7.2.1.8947</vt:lpwstr>
  </property>
  <property fmtid="{D5CDD505-2E9C-101B-9397-08002B2CF9AE}" pid="3" name="ICV">
    <vt:lpwstr>5D07DFB3356BC16E0090A569CAB4F171_43</vt:lpwstr>
  </property>
</Properties>
</file>